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7" r:id="rId2"/>
    <p:sldId id="256" r:id="rId3"/>
    <p:sldId id="257" r:id="rId4"/>
    <p:sldId id="258" r:id="rId5"/>
    <p:sldId id="259" r:id="rId6"/>
    <p:sldId id="260" r:id="rId7"/>
    <p:sldId id="261" r:id="rId8"/>
    <p:sldId id="262" r:id="rId9"/>
    <p:sldId id="263" r:id="rId10"/>
    <p:sldId id="266" r:id="rId11"/>
    <p:sldId id="268" r:id="rId12"/>
    <p:sldId id="264" r:id="rId13"/>
    <p:sldId id="265" r:id="rId14"/>
  </p:sldIdLst>
  <p:sldSz cx="14630400" cy="8229600"/>
  <p:notesSz cx="8229600" cy="14630400"/>
  <p:embeddedFontLst>
    <p:embeddedFont>
      <p:font typeface="Syne" pitchFamily="2" charset="0"/>
      <p:regular r:id="rId16"/>
      <p:bold r:id="rId17"/>
    </p:embeddedFont>
    <p:embeddedFont>
      <p:font typeface="Syne Extra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B61C"/>
    <a:srgbClr val="162125"/>
    <a:srgbClr val="141E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DEBB9-977A-4131-9A1A-86AEF2940CBA}" v="75" dt="2026-01-08T09:10:04.8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aaz Manzoor" userId="aeabf06169c06072" providerId="LiveId" clId="{76AE72F0-DFA2-410B-8CFB-48ECAE629370}"/>
    <pc:docChg chg="undo custSel addSld modSld sldOrd modMainMaster">
      <pc:chgData name="Muaaz Manzoor" userId="aeabf06169c06072" providerId="LiveId" clId="{76AE72F0-DFA2-410B-8CFB-48ECAE629370}" dt="2026-01-08T09:10:48.606" v="164"/>
      <pc:docMkLst>
        <pc:docMk/>
      </pc:docMkLst>
      <pc:sldChg chg="modTransition">
        <pc:chgData name="Muaaz Manzoor" userId="aeabf06169c06072" providerId="LiveId" clId="{76AE72F0-DFA2-410B-8CFB-48ECAE629370}" dt="2026-01-08T09:05:18.818" v="131"/>
        <pc:sldMkLst>
          <pc:docMk/>
          <pc:sldMk cId="0" sldId="256"/>
        </pc:sldMkLst>
      </pc:sldChg>
      <pc:sldChg chg="modTransition">
        <pc:chgData name="Muaaz Manzoor" userId="aeabf06169c06072" providerId="LiveId" clId="{76AE72F0-DFA2-410B-8CFB-48ECAE629370}" dt="2026-01-08T09:05:18.818" v="131"/>
        <pc:sldMkLst>
          <pc:docMk/>
          <pc:sldMk cId="0" sldId="257"/>
        </pc:sldMkLst>
      </pc:sldChg>
      <pc:sldChg chg="addSp delSp modSp mod modTransition">
        <pc:chgData name="Muaaz Manzoor" userId="aeabf06169c06072" providerId="LiveId" clId="{76AE72F0-DFA2-410B-8CFB-48ECAE629370}" dt="2026-01-08T09:10:15.912" v="162" actId="1076"/>
        <pc:sldMkLst>
          <pc:docMk/>
          <pc:sldMk cId="0" sldId="258"/>
        </pc:sldMkLst>
        <pc:spChg chg="add del mod">
          <ac:chgData name="Muaaz Manzoor" userId="aeabf06169c06072" providerId="LiveId" clId="{76AE72F0-DFA2-410B-8CFB-48ECAE629370}" dt="2026-01-08T09:10:04.826" v="159" actId="164"/>
          <ac:spMkLst>
            <pc:docMk/>
            <pc:sldMk cId="0" sldId="258"/>
            <ac:spMk id="18" creationId="{5D38D1C3-3E0C-C6CC-38FD-EBC63532B82D}"/>
          </ac:spMkLst>
        </pc:spChg>
        <pc:grpChg chg="add mod">
          <ac:chgData name="Muaaz Manzoor" userId="aeabf06169c06072" providerId="LiveId" clId="{76AE72F0-DFA2-410B-8CFB-48ECAE629370}" dt="2026-01-08T09:10:04.826" v="159" actId="164"/>
          <ac:grpSpMkLst>
            <pc:docMk/>
            <pc:sldMk cId="0" sldId="258"/>
            <ac:grpSpMk id="7" creationId="{3527D488-9B7F-C7C5-62D7-8D501AB1E2EE}"/>
          </ac:grpSpMkLst>
        </pc:grpChg>
        <pc:picChg chg="del mod">
          <ac:chgData name="Muaaz Manzoor" userId="aeabf06169c06072" providerId="LiveId" clId="{76AE72F0-DFA2-410B-8CFB-48ECAE629370}" dt="2026-01-08T09:10:12.078" v="161" actId="478"/>
          <ac:picMkLst>
            <pc:docMk/>
            <pc:sldMk cId="0" sldId="258"/>
            <ac:picMk id="6" creationId="{00000000-0000-0000-0000-000000000000}"/>
          </ac:picMkLst>
        </pc:picChg>
        <pc:picChg chg="add del mod">
          <ac:chgData name="Muaaz Manzoor" userId="aeabf06169c06072" providerId="LiveId" clId="{76AE72F0-DFA2-410B-8CFB-48ECAE629370}" dt="2026-01-08T09:10:15.912" v="162" actId="1076"/>
          <ac:picMkLst>
            <pc:docMk/>
            <pc:sldMk cId="0" sldId="258"/>
            <ac:picMk id="10" creationId="{A9184B90-38F9-EAFD-86A8-B8EE4D88CF00}"/>
          </ac:picMkLst>
        </pc:picChg>
        <pc:picChg chg="mod">
          <ac:chgData name="Muaaz Manzoor" userId="aeabf06169c06072" providerId="LiveId" clId="{76AE72F0-DFA2-410B-8CFB-48ECAE629370}" dt="2026-01-08T09:10:04.826" v="159" actId="164"/>
          <ac:picMkLst>
            <pc:docMk/>
            <pc:sldMk cId="0" sldId="258"/>
            <ac:picMk id="20" creationId="{2638F809-ECFC-6424-4E30-1DCDFBDBA1CA}"/>
          </ac:picMkLst>
        </pc:picChg>
      </pc:sldChg>
      <pc:sldChg chg="modTransition">
        <pc:chgData name="Muaaz Manzoor" userId="aeabf06169c06072" providerId="LiveId" clId="{76AE72F0-DFA2-410B-8CFB-48ECAE629370}" dt="2026-01-08T09:05:18.818" v="131"/>
        <pc:sldMkLst>
          <pc:docMk/>
          <pc:sldMk cId="0" sldId="259"/>
        </pc:sldMkLst>
      </pc:sldChg>
      <pc:sldChg chg="modTransition">
        <pc:chgData name="Muaaz Manzoor" userId="aeabf06169c06072" providerId="LiveId" clId="{76AE72F0-DFA2-410B-8CFB-48ECAE629370}" dt="2026-01-08T09:05:18.818" v="131"/>
        <pc:sldMkLst>
          <pc:docMk/>
          <pc:sldMk cId="0" sldId="260"/>
        </pc:sldMkLst>
      </pc:sldChg>
      <pc:sldChg chg="modTransition">
        <pc:chgData name="Muaaz Manzoor" userId="aeabf06169c06072" providerId="LiveId" clId="{76AE72F0-DFA2-410B-8CFB-48ECAE629370}" dt="2026-01-08T09:05:18.818" v="131"/>
        <pc:sldMkLst>
          <pc:docMk/>
          <pc:sldMk cId="0" sldId="261"/>
        </pc:sldMkLst>
      </pc:sldChg>
      <pc:sldChg chg="modTransition">
        <pc:chgData name="Muaaz Manzoor" userId="aeabf06169c06072" providerId="LiveId" clId="{76AE72F0-DFA2-410B-8CFB-48ECAE629370}" dt="2026-01-08T09:05:18.818" v="131"/>
        <pc:sldMkLst>
          <pc:docMk/>
          <pc:sldMk cId="0" sldId="262"/>
        </pc:sldMkLst>
      </pc:sldChg>
      <pc:sldChg chg="modTransition">
        <pc:chgData name="Muaaz Manzoor" userId="aeabf06169c06072" providerId="LiveId" clId="{76AE72F0-DFA2-410B-8CFB-48ECAE629370}" dt="2026-01-08T09:05:18.818" v="131"/>
        <pc:sldMkLst>
          <pc:docMk/>
          <pc:sldMk cId="0" sldId="263"/>
        </pc:sldMkLst>
      </pc:sldChg>
      <pc:sldChg chg="modTransition">
        <pc:chgData name="Muaaz Manzoor" userId="aeabf06169c06072" providerId="LiveId" clId="{76AE72F0-DFA2-410B-8CFB-48ECAE629370}" dt="2026-01-08T09:05:18.818" v="131"/>
        <pc:sldMkLst>
          <pc:docMk/>
          <pc:sldMk cId="0" sldId="264"/>
        </pc:sldMkLst>
      </pc:sldChg>
      <pc:sldChg chg="modTransition">
        <pc:chgData name="Muaaz Manzoor" userId="aeabf06169c06072" providerId="LiveId" clId="{76AE72F0-DFA2-410B-8CFB-48ECAE629370}" dt="2026-01-08T09:05:18.818" v="131"/>
        <pc:sldMkLst>
          <pc:docMk/>
          <pc:sldMk cId="0" sldId="265"/>
        </pc:sldMkLst>
      </pc:sldChg>
      <pc:sldChg chg="modTransition">
        <pc:chgData name="Muaaz Manzoor" userId="aeabf06169c06072" providerId="LiveId" clId="{76AE72F0-DFA2-410B-8CFB-48ECAE629370}" dt="2026-01-08T09:05:18.818" v="131"/>
        <pc:sldMkLst>
          <pc:docMk/>
          <pc:sldMk cId="11807111" sldId="266"/>
        </pc:sldMkLst>
      </pc:sldChg>
      <pc:sldChg chg="addSp delSp modSp mod modTransition addAnim delAnim modAnim">
        <pc:chgData name="Muaaz Manzoor" userId="aeabf06169c06072" providerId="LiveId" clId="{76AE72F0-DFA2-410B-8CFB-48ECAE629370}" dt="2026-01-08T09:10:48.606" v="164"/>
        <pc:sldMkLst>
          <pc:docMk/>
          <pc:sldMk cId="3245393030" sldId="267"/>
        </pc:sldMkLst>
        <pc:spChg chg="add mod">
          <ac:chgData name="Muaaz Manzoor" userId="aeabf06169c06072" providerId="LiveId" clId="{76AE72F0-DFA2-410B-8CFB-48ECAE629370}" dt="2026-01-08T08:45:22.369" v="4" actId="1076"/>
          <ac:spMkLst>
            <pc:docMk/>
            <pc:sldMk cId="3245393030" sldId="267"/>
            <ac:spMk id="2" creationId="{A3A7711B-6C36-5E8F-F15C-2DD237228620}"/>
          </ac:spMkLst>
        </pc:spChg>
        <pc:spChg chg="mod">
          <ac:chgData name="Muaaz Manzoor" userId="aeabf06169c06072" providerId="LiveId" clId="{76AE72F0-DFA2-410B-8CFB-48ECAE629370}" dt="2026-01-08T09:03:44.359" v="123" actId="1076"/>
          <ac:spMkLst>
            <pc:docMk/>
            <pc:sldMk cId="3245393030" sldId="267"/>
            <ac:spMk id="10" creationId="{951C9D90-A498-3559-7A9C-F70F183C21F2}"/>
          </ac:spMkLst>
        </pc:spChg>
        <pc:spChg chg="mod">
          <ac:chgData name="Muaaz Manzoor" userId="aeabf06169c06072" providerId="LiveId" clId="{76AE72F0-DFA2-410B-8CFB-48ECAE629370}" dt="2026-01-08T09:04:13.072" v="125" actId="1076"/>
          <ac:spMkLst>
            <pc:docMk/>
            <pc:sldMk cId="3245393030" sldId="267"/>
            <ac:spMk id="16" creationId="{4C4E0D11-0EF9-AE72-97D8-4ABEBC618CC2}"/>
          </ac:spMkLst>
        </pc:spChg>
        <pc:spChg chg="mod">
          <ac:chgData name="Muaaz Manzoor" userId="aeabf06169c06072" providerId="LiveId" clId="{76AE72F0-DFA2-410B-8CFB-48ECAE629370}" dt="2026-01-08T09:06:11.856" v="138" actId="1076"/>
          <ac:spMkLst>
            <pc:docMk/>
            <pc:sldMk cId="3245393030" sldId="267"/>
            <ac:spMk id="17" creationId="{ADCAF1F1-3936-AB48-6AEE-7CE26C14BF25}"/>
          </ac:spMkLst>
        </pc:spChg>
        <pc:spChg chg="mod">
          <ac:chgData name="Muaaz Manzoor" userId="aeabf06169c06072" providerId="LiveId" clId="{76AE72F0-DFA2-410B-8CFB-48ECAE629370}" dt="2026-01-08T09:06:04.675" v="137" actId="1076"/>
          <ac:spMkLst>
            <pc:docMk/>
            <pc:sldMk cId="3245393030" sldId="267"/>
            <ac:spMk id="28" creationId="{A1C2E7A2-7B1C-F827-AC6B-926573113B86}"/>
          </ac:spMkLst>
        </pc:spChg>
        <pc:grpChg chg="mod">
          <ac:chgData name="Muaaz Manzoor" userId="aeabf06169c06072" providerId="LiveId" clId="{76AE72F0-DFA2-410B-8CFB-48ECAE629370}" dt="2026-01-08T09:04:03.311" v="124" actId="1076"/>
          <ac:grpSpMkLst>
            <pc:docMk/>
            <pc:sldMk cId="3245393030" sldId="267"/>
            <ac:grpSpMk id="26" creationId="{468A5C84-DFE4-C628-39C2-BFFFE5ADEB17}"/>
          </ac:grpSpMkLst>
        </pc:grpChg>
        <pc:picChg chg="add del mod ord">
          <ac:chgData name="Muaaz Manzoor" userId="aeabf06169c06072" providerId="LiveId" clId="{76AE72F0-DFA2-410B-8CFB-48ECAE629370}" dt="2026-01-08T08:49:53.789" v="20" actId="22"/>
          <ac:picMkLst>
            <pc:docMk/>
            <pc:sldMk cId="3245393030" sldId="267"/>
            <ac:picMk id="4" creationId="{10DB2D5A-E86D-4418-A3A3-D1F46E18EC05}"/>
          </ac:picMkLst>
        </pc:picChg>
        <pc:cxnChg chg="del">
          <ac:chgData name="Muaaz Manzoor" userId="aeabf06169c06072" providerId="LiveId" clId="{76AE72F0-DFA2-410B-8CFB-48ECAE629370}" dt="2026-01-08T09:04:22.400" v="126" actId="478"/>
          <ac:cxnSpMkLst>
            <pc:docMk/>
            <pc:sldMk cId="3245393030" sldId="267"/>
            <ac:cxnSpMk id="20" creationId="{3CC2A10F-B524-8E10-3869-DD80F5CF18C8}"/>
          </ac:cxnSpMkLst>
        </pc:cxnChg>
      </pc:sldChg>
      <pc:sldChg chg="addSp modSp new mod ord modTransition addAnim delAnim modAnim">
        <pc:chgData name="Muaaz Manzoor" userId="aeabf06169c06072" providerId="LiveId" clId="{76AE72F0-DFA2-410B-8CFB-48ECAE629370}" dt="2026-01-08T09:08:42.005" v="151"/>
        <pc:sldMkLst>
          <pc:docMk/>
          <pc:sldMk cId="365511951" sldId="268"/>
        </pc:sldMkLst>
        <pc:spChg chg="add mod">
          <ac:chgData name="Muaaz Manzoor" userId="aeabf06169c06072" providerId="LiveId" clId="{76AE72F0-DFA2-410B-8CFB-48ECAE629370}" dt="2026-01-08T08:56:35.733" v="40" actId="1076"/>
          <ac:spMkLst>
            <pc:docMk/>
            <pc:sldMk cId="365511951" sldId="268"/>
            <ac:spMk id="5" creationId="{7733169B-BC97-27F7-38FA-713C3A1D5E73}"/>
          </ac:spMkLst>
        </pc:spChg>
        <pc:spChg chg="add mod">
          <ac:chgData name="Muaaz Manzoor" userId="aeabf06169c06072" providerId="LiveId" clId="{76AE72F0-DFA2-410B-8CFB-48ECAE629370}" dt="2026-01-08T08:57:33.449" v="94" actId="122"/>
          <ac:spMkLst>
            <pc:docMk/>
            <pc:sldMk cId="365511951" sldId="268"/>
            <ac:spMk id="6" creationId="{17DA63EC-EF67-410D-3ECE-F62C02EC1FE8}"/>
          </ac:spMkLst>
        </pc:spChg>
        <pc:spChg chg="add mod">
          <ac:chgData name="Muaaz Manzoor" userId="aeabf06169c06072" providerId="LiveId" clId="{76AE72F0-DFA2-410B-8CFB-48ECAE629370}" dt="2026-01-08T09:03:04.213" v="122" actId="1076"/>
          <ac:spMkLst>
            <pc:docMk/>
            <pc:sldMk cId="365511951" sldId="268"/>
            <ac:spMk id="7" creationId="{474011E4-0F7A-3B5A-CF91-6FEA7004D821}"/>
          </ac:spMkLst>
        </pc:spChg>
        <pc:picChg chg="add mod ord">
          <ac:chgData name="Muaaz Manzoor" userId="aeabf06169c06072" providerId="LiveId" clId="{76AE72F0-DFA2-410B-8CFB-48ECAE629370}" dt="2026-01-08T08:56:30.886" v="39" actId="1076"/>
          <ac:picMkLst>
            <pc:docMk/>
            <pc:sldMk cId="365511951" sldId="268"/>
            <ac:picMk id="3" creationId="{7F5C7600-29D2-F1FE-B693-AB6B0092C759}"/>
          </ac:picMkLst>
        </pc:picChg>
        <pc:picChg chg="add mod">
          <ac:chgData name="Muaaz Manzoor" userId="aeabf06169c06072" providerId="LiveId" clId="{76AE72F0-DFA2-410B-8CFB-48ECAE629370}" dt="2026-01-08T08:56:18.370" v="37" actId="14100"/>
          <ac:picMkLst>
            <pc:docMk/>
            <pc:sldMk cId="365511951" sldId="268"/>
            <ac:picMk id="4" creationId="{7911E1CD-F551-3EDF-91FB-796056A6387B}"/>
          </ac:picMkLst>
        </pc:picChg>
      </pc:sldChg>
      <pc:sldMasterChg chg="modTransition modSldLayout">
        <pc:chgData name="Muaaz Manzoor" userId="aeabf06169c06072" providerId="LiveId" clId="{76AE72F0-DFA2-410B-8CFB-48ECAE629370}" dt="2026-01-08T09:05:18.818" v="131"/>
        <pc:sldMasterMkLst>
          <pc:docMk/>
          <pc:sldMasterMk cId="0" sldId="2147483648"/>
        </pc:sldMasterMkLst>
        <pc:sldLayoutChg chg="modTransition">
          <pc:chgData name="Muaaz Manzoor" userId="aeabf06169c06072" providerId="LiveId" clId="{76AE72F0-DFA2-410B-8CFB-48ECAE629370}" dt="2026-01-08T09:05:18.818" v="131"/>
          <pc:sldLayoutMkLst>
            <pc:docMk/>
            <pc:sldMasterMk cId="0" sldId="2147483648"/>
            <pc:sldLayoutMk cId="0" sldId="2147483649"/>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0"/>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1"/>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2"/>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3"/>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4"/>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5"/>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6"/>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7"/>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8"/>
          </pc:sldLayoutMkLst>
        </pc:sldLayoutChg>
        <pc:sldLayoutChg chg="modTransition">
          <pc:chgData name="Muaaz Manzoor" userId="aeabf06169c06072" providerId="LiveId" clId="{76AE72F0-DFA2-410B-8CFB-48ECAE629370}" dt="2026-01-08T09:05:18.818" v="131"/>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957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txBody>
          <a:bodyPr/>
          <a:lstStyle/>
          <a:p>
            <a:endParaRPr lang="en-PK"/>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rgbClr val="141E24"/>
          </a:fgClr>
          <a:bgClr>
            <a:srgbClr val="162125"/>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png"/><Relationship Id="rId3" Type="http://schemas.openxmlformats.org/officeDocument/2006/relationships/image" Target="../media/image4.png"/><Relationship Id="rId7" Type="http://schemas.openxmlformats.org/officeDocument/2006/relationships/image" Target="../media/image11.svg"/><Relationship Id="rId12"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22.sv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3" Type="http://schemas.openxmlformats.org/officeDocument/2006/relationships/image" Target="../media/image4.png"/><Relationship Id="rId7" Type="http://schemas.openxmlformats.org/officeDocument/2006/relationships/image" Target="../media/image28.svg"/><Relationship Id="rId12"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svg"/><Relationship Id="rId10" Type="http://schemas.openxmlformats.org/officeDocument/2006/relationships/image" Target="../media/image5.png"/><Relationship Id="rId4" Type="http://schemas.openxmlformats.org/officeDocument/2006/relationships/image" Target="../media/image25.png"/><Relationship Id="rId9" Type="http://schemas.openxmlformats.org/officeDocument/2006/relationships/image" Target="../media/image30.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png"/><Relationship Id="rId7"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5.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5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Right Triangle 27">
            <a:extLst>
              <a:ext uri="{FF2B5EF4-FFF2-40B4-BE49-F238E27FC236}">
                <a16:creationId xmlns:a16="http://schemas.microsoft.com/office/drawing/2014/main" id="{A1C2E7A2-7B1C-F827-AC6B-926573113B86}"/>
              </a:ext>
            </a:extLst>
          </p:cNvPr>
          <p:cNvSpPr/>
          <p:nvPr/>
        </p:nvSpPr>
        <p:spPr>
          <a:xfrm flipH="1">
            <a:off x="36103" y="118534"/>
            <a:ext cx="14558190" cy="8111066"/>
          </a:xfrm>
          <a:prstGeom prst="rtTriangl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0">
            <a:extLst>
              <a:ext uri="{FF2B5EF4-FFF2-40B4-BE49-F238E27FC236}">
                <a16:creationId xmlns:a16="http://schemas.microsoft.com/office/drawing/2014/main" id="{7ACD5F6F-1D79-4B89-3693-24216941E6AC}"/>
              </a:ext>
            </a:extLst>
          </p:cNvPr>
          <p:cNvSpPr/>
          <p:nvPr/>
        </p:nvSpPr>
        <p:spPr>
          <a:xfrm>
            <a:off x="3536989" y="267993"/>
            <a:ext cx="7556421" cy="649631"/>
          </a:xfrm>
          <a:prstGeom prst="rect">
            <a:avLst/>
          </a:prstGeom>
          <a:noFill/>
          <a:ln/>
        </p:spPr>
        <p:txBody>
          <a:bodyPr wrap="square" lIns="0" tIns="0" rIns="0" bIns="0" rtlCol="0" anchor="t"/>
          <a:lstStyle/>
          <a:p>
            <a:pPr marL="0" indent="0" algn="ctr">
              <a:lnSpc>
                <a:spcPts val="5550"/>
              </a:lnSpc>
              <a:buNone/>
            </a:pPr>
            <a:r>
              <a:rPr lang="en-US" sz="4450" b="1" dirty="0">
                <a:solidFill>
                  <a:srgbClr val="92D050"/>
                </a:solidFill>
                <a:latin typeface="Syne Extra Bold" pitchFamily="34" charset="0"/>
                <a:ea typeface="Syne Extra Bold" pitchFamily="34" charset="-122"/>
                <a:cs typeface="Syne Extra Bold" pitchFamily="34" charset="-120"/>
              </a:rPr>
              <a:t>SELL BACK</a:t>
            </a:r>
          </a:p>
        </p:txBody>
      </p:sp>
      <p:sp>
        <p:nvSpPr>
          <p:cNvPr id="8" name="Text 1">
            <a:extLst>
              <a:ext uri="{FF2B5EF4-FFF2-40B4-BE49-F238E27FC236}">
                <a16:creationId xmlns:a16="http://schemas.microsoft.com/office/drawing/2014/main" id="{A8A75075-F14A-238C-F2A2-ED5493638BCA}"/>
              </a:ext>
            </a:extLst>
          </p:cNvPr>
          <p:cNvSpPr/>
          <p:nvPr/>
        </p:nvSpPr>
        <p:spPr>
          <a:xfrm>
            <a:off x="3536988" y="906287"/>
            <a:ext cx="7556421" cy="362903"/>
          </a:xfrm>
          <a:prstGeom prst="rect">
            <a:avLst/>
          </a:prstGeom>
          <a:noFill/>
          <a:ln/>
        </p:spPr>
        <p:txBody>
          <a:bodyPr wrap="none" lIns="0" tIns="0" rIns="0" bIns="0" rtlCol="0" anchor="t"/>
          <a:lstStyle/>
          <a:p>
            <a:pPr marL="0" indent="0" algn="ctr">
              <a:lnSpc>
                <a:spcPts val="2850"/>
              </a:lnSpc>
              <a:buNone/>
            </a:pPr>
            <a:r>
              <a:rPr lang="en-US" sz="1750" dirty="0">
                <a:solidFill>
                  <a:srgbClr val="D7E5D8"/>
                </a:solidFill>
                <a:latin typeface="Syne" pitchFamily="34" charset="0"/>
                <a:ea typeface="Syne" pitchFamily="34" charset="-122"/>
                <a:cs typeface="Syne" pitchFamily="34" charset="-120"/>
              </a:rPr>
              <a:t>An AICTL Project</a:t>
            </a:r>
          </a:p>
          <a:p>
            <a:pPr marL="0" indent="0" algn="l">
              <a:lnSpc>
                <a:spcPts val="2850"/>
              </a:lnSpc>
              <a:buNone/>
            </a:pPr>
            <a:endParaRPr lang="en-US" sz="1750" dirty="0"/>
          </a:p>
        </p:txBody>
      </p:sp>
      <p:sp>
        <p:nvSpPr>
          <p:cNvPr id="9" name="Text 0">
            <a:extLst>
              <a:ext uri="{FF2B5EF4-FFF2-40B4-BE49-F238E27FC236}">
                <a16:creationId xmlns:a16="http://schemas.microsoft.com/office/drawing/2014/main" id="{E0350785-9125-30EB-6479-791BA4F23D77}"/>
              </a:ext>
            </a:extLst>
          </p:cNvPr>
          <p:cNvSpPr/>
          <p:nvPr/>
        </p:nvSpPr>
        <p:spPr>
          <a:xfrm>
            <a:off x="8730719" y="5242163"/>
            <a:ext cx="4725381" cy="633704"/>
          </a:xfrm>
          <a:prstGeom prst="rect">
            <a:avLst/>
          </a:prstGeom>
          <a:noFill/>
          <a:ln/>
        </p:spPr>
        <p:txBody>
          <a:bodyPr wrap="square" lIns="0" tIns="0" rIns="0" bIns="0" rtlCol="0" anchor="t"/>
          <a:lstStyle/>
          <a:p>
            <a:pPr marL="0" indent="0" algn="ctr">
              <a:lnSpc>
                <a:spcPts val="5350"/>
              </a:lnSpc>
              <a:buNone/>
            </a:pPr>
            <a:r>
              <a:rPr lang="en-US" sz="4300" b="1" dirty="0">
                <a:solidFill>
                  <a:srgbClr val="F0F4F1"/>
                </a:solidFill>
                <a:latin typeface="Syne Extra Bold" pitchFamily="34" charset="0"/>
              </a:rPr>
              <a:t>INSTRUCTOR</a:t>
            </a:r>
            <a:endParaRPr lang="en-US" sz="4300" dirty="0"/>
          </a:p>
        </p:txBody>
      </p:sp>
      <p:grpSp>
        <p:nvGrpSpPr>
          <p:cNvPr id="26" name="Group 25">
            <a:extLst>
              <a:ext uri="{FF2B5EF4-FFF2-40B4-BE49-F238E27FC236}">
                <a16:creationId xmlns:a16="http://schemas.microsoft.com/office/drawing/2014/main" id="{468A5C84-DFE4-C628-39C2-BFFFE5ADEB17}"/>
              </a:ext>
            </a:extLst>
          </p:cNvPr>
          <p:cNvGrpSpPr/>
          <p:nvPr/>
        </p:nvGrpSpPr>
        <p:grpSpPr>
          <a:xfrm>
            <a:off x="632239" y="2781807"/>
            <a:ext cx="5809497" cy="1631216"/>
            <a:chOff x="184979" y="2264286"/>
            <a:chExt cx="5809497" cy="1631216"/>
          </a:xfrm>
        </p:grpSpPr>
        <p:sp>
          <p:nvSpPr>
            <p:cNvPr id="10" name="Shape 2">
              <a:extLst>
                <a:ext uri="{FF2B5EF4-FFF2-40B4-BE49-F238E27FC236}">
                  <a16:creationId xmlns:a16="http://schemas.microsoft.com/office/drawing/2014/main" id="{951C9D90-A498-3559-7A9C-F70F183C21F2}"/>
                </a:ext>
              </a:extLst>
            </p:cNvPr>
            <p:cNvSpPr/>
            <p:nvPr/>
          </p:nvSpPr>
          <p:spPr>
            <a:xfrm>
              <a:off x="184979" y="2288177"/>
              <a:ext cx="5809497" cy="1580884"/>
            </a:xfrm>
            <a:prstGeom prst="roundRect">
              <a:avLst>
                <a:gd name="adj" fmla="val 5785"/>
              </a:avLst>
            </a:prstGeom>
            <a:solidFill>
              <a:srgbClr val="81B61C"/>
            </a:solidFill>
            <a:ln/>
          </p:spPr>
          <p:txBody>
            <a:bodyPr/>
            <a:lstStyle/>
            <a:p>
              <a:endParaRPr lang="en-US" dirty="0"/>
            </a:p>
          </p:txBody>
        </p:sp>
        <p:sp>
          <p:nvSpPr>
            <p:cNvPr id="12" name="TextBox 11">
              <a:extLst>
                <a:ext uri="{FF2B5EF4-FFF2-40B4-BE49-F238E27FC236}">
                  <a16:creationId xmlns:a16="http://schemas.microsoft.com/office/drawing/2014/main" id="{713277AA-C245-3B11-CE4E-BF280F64E113}"/>
                </a:ext>
              </a:extLst>
            </p:cNvPr>
            <p:cNvSpPr txBox="1"/>
            <p:nvPr/>
          </p:nvSpPr>
          <p:spPr>
            <a:xfrm>
              <a:off x="184979" y="2341230"/>
              <a:ext cx="1779287" cy="1477328"/>
            </a:xfrm>
            <a:prstGeom prst="rect">
              <a:avLst/>
            </a:prstGeom>
            <a:noFill/>
          </p:spPr>
          <p:txBody>
            <a:bodyPr wrap="square" rtlCol="0">
              <a:spAutoFit/>
            </a:bodyPr>
            <a:lstStyle/>
            <a:p>
              <a:r>
                <a:rPr lang="en-US" dirty="0">
                  <a:latin typeface="Syne" panose="020B0604020202020204" charset="0"/>
                </a:rPr>
                <a:t>AWAIS</a:t>
              </a:r>
            </a:p>
            <a:p>
              <a:r>
                <a:rPr lang="en-US" dirty="0">
                  <a:latin typeface="Syne" panose="020B0604020202020204" charset="0"/>
                </a:rPr>
                <a:t>MOAAZ</a:t>
              </a:r>
            </a:p>
            <a:p>
              <a:r>
                <a:rPr lang="en-US" dirty="0">
                  <a:latin typeface="Syne" panose="020B0604020202020204" charset="0"/>
                </a:rPr>
                <a:t>ABDULLAH</a:t>
              </a:r>
            </a:p>
            <a:p>
              <a:r>
                <a:rPr lang="en-US" dirty="0">
                  <a:latin typeface="Syne" panose="020B0604020202020204" charset="0"/>
                </a:rPr>
                <a:t>NOORULAIN</a:t>
              </a:r>
            </a:p>
            <a:p>
              <a:r>
                <a:rPr lang="en-US" dirty="0">
                  <a:latin typeface="Syne" panose="020B0604020202020204" charset="0"/>
                </a:rPr>
                <a:t>MOHID</a:t>
              </a:r>
            </a:p>
          </p:txBody>
        </p:sp>
        <p:sp>
          <p:nvSpPr>
            <p:cNvPr id="15" name="TextBox 14">
              <a:extLst>
                <a:ext uri="{FF2B5EF4-FFF2-40B4-BE49-F238E27FC236}">
                  <a16:creationId xmlns:a16="http://schemas.microsoft.com/office/drawing/2014/main" id="{63CC62B0-18A6-25ED-B932-08378F3EFA66}"/>
                </a:ext>
              </a:extLst>
            </p:cNvPr>
            <p:cNvSpPr txBox="1"/>
            <p:nvPr/>
          </p:nvSpPr>
          <p:spPr>
            <a:xfrm>
              <a:off x="4127746" y="2264286"/>
              <a:ext cx="1779287" cy="1631216"/>
            </a:xfrm>
            <a:prstGeom prst="rect">
              <a:avLst/>
            </a:prstGeom>
            <a:noFill/>
          </p:spPr>
          <p:txBody>
            <a:bodyPr wrap="square" rtlCol="0">
              <a:spAutoFit/>
            </a:bodyPr>
            <a:lstStyle/>
            <a:p>
              <a:pPr algn="r"/>
              <a:r>
                <a:rPr lang="en-US" sz="2000" dirty="0">
                  <a:latin typeface="Syne" panose="020B0604020202020204" charset="0"/>
                </a:rPr>
                <a:t>2025CS152</a:t>
              </a:r>
            </a:p>
            <a:p>
              <a:pPr algn="r"/>
              <a:r>
                <a:rPr lang="en-US" sz="2000" dirty="0">
                  <a:latin typeface="Syne" panose="020B0604020202020204" charset="0"/>
                </a:rPr>
                <a:t>2025CS169</a:t>
              </a:r>
            </a:p>
            <a:p>
              <a:pPr algn="r"/>
              <a:r>
                <a:rPr lang="en-US" sz="2000" dirty="0">
                  <a:latin typeface="Syne" panose="020B0604020202020204" charset="0"/>
                </a:rPr>
                <a:t>2025CS133</a:t>
              </a:r>
            </a:p>
            <a:p>
              <a:pPr algn="r"/>
              <a:r>
                <a:rPr lang="en-US" sz="2000" dirty="0">
                  <a:latin typeface="Syne" panose="020B0604020202020204" charset="0"/>
                </a:rPr>
                <a:t>2025CS122</a:t>
              </a:r>
            </a:p>
            <a:p>
              <a:pPr algn="r"/>
              <a:r>
                <a:rPr lang="en-US" sz="2000" dirty="0">
                  <a:latin typeface="Syne" panose="020B0604020202020204" charset="0"/>
                </a:rPr>
                <a:t>2025CS128</a:t>
              </a:r>
            </a:p>
          </p:txBody>
        </p:sp>
      </p:grpSp>
      <p:sp>
        <p:nvSpPr>
          <p:cNvPr id="16" name="Text 0">
            <a:extLst>
              <a:ext uri="{FF2B5EF4-FFF2-40B4-BE49-F238E27FC236}">
                <a16:creationId xmlns:a16="http://schemas.microsoft.com/office/drawing/2014/main" id="{4C4E0D11-0EF9-AE72-97D8-4ABEBC618CC2}"/>
              </a:ext>
            </a:extLst>
          </p:cNvPr>
          <p:cNvSpPr/>
          <p:nvPr/>
        </p:nvSpPr>
        <p:spPr>
          <a:xfrm>
            <a:off x="1716653" y="1907484"/>
            <a:ext cx="3640667" cy="649631"/>
          </a:xfrm>
          <a:prstGeom prst="rect">
            <a:avLst/>
          </a:prstGeom>
          <a:noFill/>
          <a:ln/>
        </p:spPr>
        <p:txBody>
          <a:bodyPr wrap="square" lIns="0" tIns="0" rIns="0" bIns="0" rtlCol="0" anchor="t"/>
          <a:lstStyle/>
          <a:p>
            <a:pPr marL="0" indent="0" algn="ctr">
              <a:lnSpc>
                <a:spcPts val="5350"/>
              </a:lnSpc>
              <a:buNone/>
            </a:pPr>
            <a:r>
              <a:rPr lang="en-US" sz="4300" b="1" dirty="0">
                <a:solidFill>
                  <a:srgbClr val="F0F4F1"/>
                </a:solidFill>
                <a:latin typeface="Syne Extra Bold" pitchFamily="34" charset="0"/>
              </a:rPr>
              <a:t>Founders</a:t>
            </a:r>
            <a:endParaRPr lang="en-US" sz="4300" dirty="0"/>
          </a:p>
        </p:txBody>
      </p:sp>
      <p:sp>
        <p:nvSpPr>
          <p:cNvPr id="17" name="Shape 2">
            <a:extLst>
              <a:ext uri="{FF2B5EF4-FFF2-40B4-BE49-F238E27FC236}">
                <a16:creationId xmlns:a16="http://schemas.microsoft.com/office/drawing/2014/main" id="{ADCAF1F1-3936-AB48-6AEE-7CE26C14BF25}"/>
              </a:ext>
            </a:extLst>
          </p:cNvPr>
          <p:cNvSpPr/>
          <p:nvPr/>
        </p:nvSpPr>
        <p:spPr>
          <a:xfrm>
            <a:off x="8143646" y="6075251"/>
            <a:ext cx="5809497" cy="826282"/>
          </a:xfrm>
          <a:prstGeom prst="roundRect">
            <a:avLst>
              <a:gd name="adj" fmla="val 5785"/>
            </a:avLst>
          </a:prstGeom>
          <a:solidFill>
            <a:srgbClr val="81B61C"/>
          </a:solidFill>
          <a:ln/>
        </p:spPr>
        <p:txBody>
          <a:bodyPr/>
          <a:lstStyle/>
          <a:p>
            <a:endParaRPr lang="en-US" dirty="0"/>
          </a:p>
        </p:txBody>
      </p:sp>
      <p:sp>
        <p:nvSpPr>
          <p:cNvPr id="18" name="TextBox 17">
            <a:extLst>
              <a:ext uri="{FF2B5EF4-FFF2-40B4-BE49-F238E27FC236}">
                <a16:creationId xmlns:a16="http://schemas.microsoft.com/office/drawing/2014/main" id="{C6E61F41-C7F7-572B-2A90-CFE6FCE262C3}"/>
              </a:ext>
            </a:extLst>
          </p:cNvPr>
          <p:cNvSpPr txBox="1"/>
          <p:nvPr/>
        </p:nvSpPr>
        <p:spPr>
          <a:xfrm>
            <a:off x="9837361" y="6303726"/>
            <a:ext cx="3438371" cy="369332"/>
          </a:xfrm>
          <a:prstGeom prst="rect">
            <a:avLst/>
          </a:prstGeom>
          <a:noFill/>
        </p:spPr>
        <p:txBody>
          <a:bodyPr wrap="square" rtlCol="0">
            <a:spAutoFit/>
          </a:bodyPr>
          <a:lstStyle/>
          <a:p>
            <a:r>
              <a:rPr lang="en-US" dirty="0">
                <a:latin typeface="Syne" panose="020B0604020202020204" charset="0"/>
              </a:rPr>
              <a:t>MISS.RAMSHA KHALID</a:t>
            </a:r>
          </a:p>
        </p:txBody>
      </p:sp>
    </p:spTree>
    <p:extLst>
      <p:ext uri="{BB962C8B-B14F-4D97-AF65-F5344CB8AC3E}">
        <p14:creationId xmlns:p14="http://schemas.microsoft.com/office/powerpoint/2010/main" val="32453930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1000"/>
                                        <p:tgtEl>
                                          <p:spTgt spid="9"/>
                                        </p:tgtEl>
                                      </p:cBhvr>
                                    </p:animEffect>
                                    <p:anim calcmode="lin" valueType="num">
                                      <p:cBhvr>
                                        <p:cTn id="10" dur="1000" fill="hold"/>
                                        <p:tgtEl>
                                          <p:spTgt spid="9"/>
                                        </p:tgtEl>
                                        <p:attrNameLst>
                                          <p:attrName>ppt_x</p:attrName>
                                        </p:attrNameLst>
                                      </p:cBhvr>
                                      <p:tavLst>
                                        <p:tav tm="0">
                                          <p:val>
                                            <p:strVal val="#ppt_x"/>
                                          </p:val>
                                        </p:tav>
                                        <p:tav tm="100000">
                                          <p:val>
                                            <p:strVal val="#ppt_x"/>
                                          </p:val>
                                        </p:tav>
                                      </p:tavLst>
                                    </p:anim>
                                    <p:anim calcmode="lin" valueType="num">
                                      <p:cBhvr>
                                        <p:cTn id="11" dur="1000" fill="hold"/>
                                        <p:tgtEl>
                                          <p:spTgt spid="9"/>
                                        </p:tgtEl>
                                        <p:attrNameLst>
                                          <p:attrName>ppt_y</p:attrName>
                                        </p:attrNameLst>
                                      </p:cBhvr>
                                      <p:tavLst>
                                        <p:tav tm="0">
                                          <p:val>
                                            <p:strVal val="#ppt_y+.1"/>
                                          </p:val>
                                        </p:tav>
                                        <p:tav tm="100000">
                                          <p:val>
                                            <p:strVal val="#ppt_y"/>
                                          </p:val>
                                        </p:tav>
                                      </p:tavLst>
                                    </p:anim>
                                  </p:childTnLst>
                                </p:cTn>
                              </p:par>
                              <p:par>
                                <p:cTn id="12" presetID="42"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anim calcmode="lin" valueType="num">
                                      <p:cBhvr>
                                        <p:cTn id="20" dur="1000" fill="hold"/>
                                        <p:tgtEl>
                                          <p:spTgt spid="26"/>
                                        </p:tgtEl>
                                        <p:attrNameLst>
                                          <p:attrName>ppt_x</p:attrName>
                                        </p:attrNameLst>
                                      </p:cBhvr>
                                      <p:tavLst>
                                        <p:tav tm="0">
                                          <p:val>
                                            <p:strVal val="#ppt_x"/>
                                          </p:val>
                                        </p:tav>
                                        <p:tav tm="100000">
                                          <p:val>
                                            <p:strVal val="#ppt_x"/>
                                          </p:val>
                                        </p:tav>
                                      </p:tavLst>
                                    </p:anim>
                                    <p:anim calcmode="lin" valueType="num">
                                      <p:cBhvr>
                                        <p:cTn id="21" dur="1000" fill="hold"/>
                                        <p:tgtEl>
                                          <p:spTgt spid="2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1000"/>
                                        <p:tgtEl>
                                          <p:spTgt spid="18"/>
                                        </p:tgtEl>
                                      </p:cBhvr>
                                    </p:animEffect>
                                    <p:anim calcmode="lin" valueType="num">
                                      <p:cBhvr>
                                        <p:cTn id="30" dur="1000" fill="hold"/>
                                        <p:tgtEl>
                                          <p:spTgt spid="18"/>
                                        </p:tgtEl>
                                        <p:attrNameLst>
                                          <p:attrName>ppt_x</p:attrName>
                                        </p:attrNameLst>
                                      </p:cBhvr>
                                      <p:tavLst>
                                        <p:tav tm="0">
                                          <p:val>
                                            <p:strVal val="#ppt_x"/>
                                          </p:val>
                                        </p:tav>
                                        <p:tav tm="100000">
                                          <p:val>
                                            <p:strVal val="#ppt_x"/>
                                          </p:val>
                                        </p:tav>
                                      </p:tavLst>
                                    </p:anim>
                                    <p:anim calcmode="lin" valueType="num">
                                      <p:cBhvr>
                                        <p:cTn id="31" dur="1000" fill="hold"/>
                                        <p:tgtEl>
                                          <p:spTgt spid="18"/>
                                        </p:tgtEl>
                                        <p:attrNameLst>
                                          <p:attrName>ppt_y</p:attrName>
                                        </p:attrNameLst>
                                      </p:cBhvr>
                                      <p:tavLst>
                                        <p:tav tm="0">
                                          <p:val>
                                            <p:strVal val="#ppt_y+.1"/>
                                          </p:val>
                                        </p:tav>
                                        <p:tav tm="100000">
                                          <p:val>
                                            <p:strVal val="#ppt_y"/>
                                          </p:val>
                                        </p:tav>
                                      </p:tavLst>
                                    </p:anim>
                                  </p:childTnLst>
                                </p:cTn>
                              </p:par>
                              <p:par>
                                <p:cTn id="32" presetID="26" presetClass="emph" presetSubtype="0" fill="hold" grpId="1" nodeType="withEffect">
                                  <p:stCondLst>
                                    <p:cond delay="0"/>
                                  </p:stCondLst>
                                  <p:childTnLst>
                                    <p:animEffect transition="out" filter="fade">
                                      <p:cBhvr>
                                        <p:cTn id="33" dur="500" tmFilter="0, 0; .2, .5; .8, .5; 1, 0"/>
                                        <p:tgtEl>
                                          <p:spTgt spid="7"/>
                                        </p:tgtEl>
                                      </p:cBhvr>
                                    </p:animEffect>
                                    <p:animScale>
                                      <p:cBhvr>
                                        <p:cTn id="34" dur="250" autoRev="1" fill="hold"/>
                                        <p:tgtEl>
                                          <p:spTgt spid="7"/>
                                        </p:tgtEl>
                                      </p:cBhvr>
                                      <p:by x="105000" y="105000"/>
                                    </p:animScale>
                                  </p:childTnLst>
                                </p:cTn>
                              </p:par>
                              <p:par>
                                <p:cTn id="35" presetID="53" presetClass="entr" presetSubtype="16" fill="hold" grpId="2"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9" grpId="0" animBg="1"/>
      <p:bldP spid="16" grpId="0" animBg="1"/>
      <p:bldP spid="17" grpId="0" animBg="1"/>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300411" y="0"/>
            <a:ext cx="5486400" cy="8229600"/>
          </a:xfrm>
          <a:prstGeom prst="rect">
            <a:avLst/>
          </a:prstGeom>
        </p:spPr>
      </p:pic>
      <p:sp>
        <p:nvSpPr>
          <p:cNvPr id="3" name="Text 0"/>
          <p:cNvSpPr/>
          <p:nvPr/>
        </p:nvSpPr>
        <p:spPr>
          <a:xfrm>
            <a:off x="649410" y="705036"/>
            <a:ext cx="7556421" cy="2835116"/>
          </a:xfrm>
          <a:prstGeom prst="rect">
            <a:avLst/>
          </a:prstGeom>
          <a:noFill/>
          <a:ln/>
        </p:spPr>
        <p:txBody>
          <a:bodyPr wrap="squar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Website UI and INFO: </a:t>
            </a:r>
          </a:p>
          <a:p>
            <a:pPr marL="0" indent="0" algn="l">
              <a:lnSpc>
                <a:spcPts val="5550"/>
              </a:lnSpc>
              <a:buNone/>
            </a:pPr>
            <a:r>
              <a:rPr lang="en-US" sz="4450" b="1" dirty="0">
                <a:solidFill>
                  <a:srgbClr val="F0F4F1"/>
                </a:solidFill>
                <a:latin typeface="Syne Extra Bold" pitchFamily="34" charset="0"/>
              </a:rPr>
              <a:t>SELL BACK</a:t>
            </a:r>
            <a:endParaRPr lang="en-US" sz="4450" dirty="0"/>
          </a:p>
        </p:txBody>
      </p:sp>
      <p:sp>
        <p:nvSpPr>
          <p:cNvPr id="4" name="Text 1"/>
          <p:cNvSpPr/>
          <p:nvPr/>
        </p:nvSpPr>
        <p:spPr>
          <a:xfrm>
            <a:off x="649411" y="2227173"/>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Crafting a seamless and intuitive experience for mobile device trade-ins.</a:t>
            </a:r>
            <a:endParaRPr lang="en-US" sz="1750" dirty="0"/>
          </a:p>
        </p:txBody>
      </p:sp>
      <p:pic>
        <p:nvPicPr>
          <p:cNvPr id="6" name="Picture 5">
            <a:extLst>
              <a:ext uri="{FF2B5EF4-FFF2-40B4-BE49-F238E27FC236}">
                <a16:creationId xmlns:a16="http://schemas.microsoft.com/office/drawing/2014/main" id="{03B88E58-B7C3-1736-98FD-C63B58F90EF2}"/>
              </a:ext>
            </a:extLst>
          </p:cNvPr>
          <p:cNvPicPr>
            <a:picLocks noChangeAspect="1"/>
          </p:cNvPicPr>
          <p:nvPr/>
        </p:nvPicPr>
        <p:blipFill>
          <a:blip r:embed="rId4"/>
          <a:srcRect l="731"/>
          <a:stretch>
            <a:fillRect/>
          </a:stretch>
        </p:blipFill>
        <p:spPr>
          <a:xfrm>
            <a:off x="-1" y="7917759"/>
            <a:ext cx="14786812" cy="310327"/>
          </a:xfrm>
          <a:prstGeom prst="rect">
            <a:avLst/>
          </a:prstGeom>
        </p:spPr>
      </p:pic>
      <p:pic>
        <p:nvPicPr>
          <p:cNvPr id="8" name="Picture 7">
            <a:extLst>
              <a:ext uri="{FF2B5EF4-FFF2-40B4-BE49-F238E27FC236}">
                <a16:creationId xmlns:a16="http://schemas.microsoft.com/office/drawing/2014/main" id="{D291F924-A9F8-84A4-523C-7DD18BE68CA9}"/>
              </a:ext>
            </a:extLst>
          </p:cNvPr>
          <p:cNvPicPr>
            <a:picLocks noChangeAspect="1"/>
          </p:cNvPicPr>
          <p:nvPr/>
        </p:nvPicPr>
        <p:blipFill>
          <a:blip r:embed="rId5"/>
          <a:stretch>
            <a:fillRect/>
          </a:stretch>
        </p:blipFill>
        <p:spPr>
          <a:xfrm>
            <a:off x="9973404" y="2590076"/>
            <a:ext cx="4140413" cy="2159111"/>
          </a:xfrm>
          <a:prstGeom prst="rect">
            <a:avLst/>
          </a:prstGeom>
        </p:spPr>
      </p:pic>
      <p:pic>
        <p:nvPicPr>
          <p:cNvPr id="9" name="Image 0" descr="preencoded.png">
            <a:extLst>
              <a:ext uri="{FF2B5EF4-FFF2-40B4-BE49-F238E27FC236}">
                <a16:creationId xmlns:a16="http://schemas.microsoft.com/office/drawing/2014/main" id="{D42BF4EE-C144-8D14-27FE-9AA60390A2A5}"/>
              </a:ext>
            </a:extLst>
          </p:cNvPr>
          <p:cNvPicPr>
            <a:picLocks noChangeAspect="1"/>
          </p:cNvPicPr>
          <p:nvPr/>
        </p:nvPicPr>
        <p:blipFill>
          <a:blip r:embed="rId6"/>
          <a:stretch>
            <a:fillRect/>
          </a:stretch>
        </p:blipFill>
        <p:spPr>
          <a:xfrm>
            <a:off x="0" y="1792438"/>
            <a:ext cx="4291441" cy="6437162"/>
          </a:xfrm>
          <a:prstGeom prst="rect">
            <a:avLst/>
          </a:prstGeom>
        </p:spPr>
      </p:pic>
      <p:sp>
        <p:nvSpPr>
          <p:cNvPr id="12" name="TextBox 11">
            <a:extLst>
              <a:ext uri="{FF2B5EF4-FFF2-40B4-BE49-F238E27FC236}">
                <a16:creationId xmlns:a16="http://schemas.microsoft.com/office/drawing/2014/main" id="{0A169066-E3B3-D62A-B9DE-EC66EF7DEE4D}"/>
              </a:ext>
            </a:extLst>
          </p:cNvPr>
          <p:cNvSpPr txBox="1"/>
          <p:nvPr/>
        </p:nvSpPr>
        <p:spPr>
          <a:xfrm>
            <a:off x="4539343" y="4330587"/>
            <a:ext cx="4088074" cy="2561470"/>
          </a:xfrm>
          <a:prstGeom prst="rect">
            <a:avLst/>
          </a:prstGeom>
          <a:noFill/>
        </p:spPr>
        <p:txBody>
          <a:bodyPr wrap="square">
            <a:spAutoFit/>
          </a:bodyPr>
          <a:lstStyle/>
          <a:p>
            <a:pPr marL="0" indent="0" algn="ctr">
              <a:lnSpc>
                <a:spcPts val="2400"/>
              </a:lnSpc>
              <a:buNone/>
            </a:pPr>
            <a:r>
              <a:rPr lang="en-US" sz="2400" dirty="0">
                <a:solidFill>
                  <a:srgbClr val="D7E5D8"/>
                </a:solidFill>
                <a:latin typeface="Syne" pitchFamily="34" charset="0"/>
                <a:ea typeface="Syne" pitchFamily="34" charset="-122"/>
                <a:cs typeface="Syne" pitchFamily="34" charset="-120"/>
              </a:rPr>
              <a:t>Our platform simplifies the process of selling old mobile devices, guiding customers through a seamless 4-step journey. From instant quotes to swift payments, we ensure a convenient and efficient experience.</a:t>
            </a:r>
            <a:endParaRPr lang="en-US" sz="2400" dirty="0"/>
          </a:p>
        </p:txBody>
      </p:sp>
      <p:sp>
        <p:nvSpPr>
          <p:cNvPr id="16" name="Shape 5">
            <a:extLst>
              <a:ext uri="{FF2B5EF4-FFF2-40B4-BE49-F238E27FC236}">
                <a16:creationId xmlns:a16="http://schemas.microsoft.com/office/drawing/2014/main" id="{A4B76BC7-E1ED-FC98-8F78-822D72EA0E5A}"/>
              </a:ext>
            </a:extLst>
          </p:cNvPr>
          <p:cNvSpPr/>
          <p:nvPr/>
        </p:nvSpPr>
        <p:spPr>
          <a:xfrm>
            <a:off x="8930859" y="-1514"/>
            <a:ext cx="369552" cy="7917759"/>
          </a:xfrm>
          <a:prstGeom prst="rect">
            <a:avLst/>
          </a:prstGeom>
          <a:solidFill>
            <a:srgbClr val="A9F00F"/>
          </a:solidFill>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anim calcmode="lin" valueType="num">
                                      <p:cBhvr>
                                        <p:cTn id="11" dur="1000" fill="hold"/>
                                        <p:tgtEl>
                                          <p:spTgt spid="3"/>
                                        </p:tgtEl>
                                        <p:attrNameLst>
                                          <p:attrName>ppt_x</p:attrName>
                                        </p:attrNameLst>
                                      </p:cBhvr>
                                      <p:tavLst>
                                        <p:tav tm="0">
                                          <p:val>
                                            <p:strVal val="#ppt_x"/>
                                          </p:val>
                                        </p:tav>
                                        <p:tav tm="100000">
                                          <p:val>
                                            <p:strVal val="#ppt_x"/>
                                          </p:val>
                                        </p:tav>
                                      </p:tavLst>
                                    </p:anim>
                                    <p:anim calcmode="lin" valueType="num">
                                      <p:cBhvr>
                                        <p:cTn id="1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347"/>
            <a:ext cx="5486400" cy="8230433"/>
          </a:xfrm>
          <a:prstGeom prst="rect">
            <a:avLst/>
          </a:prstGeom>
        </p:spPr>
      </p:pic>
      <p:sp>
        <p:nvSpPr>
          <p:cNvPr id="3" name="Text 0"/>
          <p:cNvSpPr/>
          <p:nvPr/>
        </p:nvSpPr>
        <p:spPr>
          <a:xfrm>
            <a:off x="6253282" y="602456"/>
            <a:ext cx="7610237" cy="1369457"/>
          </a:xfrm>
          <a:prstGeom prst="rect">
            <a:avLst/>
          </a:prstGeom>
          <a:noFill/>
          <a:ln/>
        </p:spPr>
        <p:txBody>
          <a:bodyPr wrap="square" lIns="0" tIns="0" rIns="0" bIns="0" rtlCol="0" anchor="t"/>
          <a:lstStyle/>
          <a:p>
            <a:pPr marL="0" indent="0" algn="l">
              <a:lnSpc>
                <a:spcPts val="5350"/>
              </a:lnSpc>
              <a:buNone/>
            </a:pPr>
            <a:r>
              <a:rPr lang="en-US" sz="4300" b="1" dirty="0">
                <a:solidFill>
                  <a:srgbClr val="F0F4F1"/>
                </a:solidFill>
                <a:latin typeface="Syne Extra Bold" pitchFamily="34" charset="0"/>
                <a:ea typeface="Syne Extra Bold" pitchFamily="34" charset="-122"/>
                <a:cs typeface="Syne Extra Bold" pitchFamily="34" charset="-120"/>
              </a:rPr>
              <a:t>The Core of Our Visual Identity</a:t>
            </a:r>
            <a:endParaRPr lang="en-US" sz="4300" dirty="0"/>
          </a:p>
        </p:txBody>
      </p:sp>
      <p:sp>
        <p:nvSpPr>
          <p:cNvPr id="4" name="Shape 1"/>
          <p:cNvSpPr/>
          <p:nvPr/>
        </p:nvSpPr>
        <p:spPr>
          <a:xfrm>
            <a:off x="6253282" y="2300526"/>
            <a:ext cx="492919" cy="492919"/>
          </a:xfrm>
          <a:prstGeom prst="roundRect">
            <a:avLst>
              <a:gd name="adj" fmla="val 18670"/>
            </a:avLst>
          </a:prstGeom>
          <a:solidFill>
            <a:srgbClr val="A9F00F"/>
          </a:solidFill>
          <a:ln w="7620">
            <a:solidFill>
              <a:srgbClr val="8FD600"/>
            </a:solidFill>
            <a:prstDash val="solid"/>
          </a:ln>
        </p:spPr>
        <p:txBody>
          <a:bodyPr/>
          <a:lstStyle/>
          <a:p>
            <a:endParaRPr lang="en-PK"/>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5435" y="2382679"/>
            <a:ext cx="328613" cy="328613"/>
          </a:xfrm>
          <a:prstGeom prst="rect">
            <a:avLst/>
          </a:prstGeom>
        </p:spPr>
      </p:pic>
      <p:sp>
        <p:nvSpPr>
          <p:cNvPr id="6" name="Text 2"/>
          <p:cNvSpPr/>
          <p:nvPr/>
        </p:nvSpPr>
        <p:spPr>
          <a:xfrm>
            <a:off x="6965275" y="2375773"/>
            <a:ext cx="3291126" cy="342305"/>
          </a:xfrm>
          <a:prstGeom prst="rect">
            <a:avLst/>
          </a:prstGeom>
          <a:noFill/>
          <a:ln/>
        </p:spPr>
        <p:txBody>
          <a:bodyPr wrap="none" lIns="0" tIns="0" rIns="0" bIns="0" rtlCol="0" anchor="t"/>
          <a:lstStyle/>
          <a:p>
            <a:pPr marL="0" indent="0" algn="l">
              <a:lnSpc>
                <a:spcPts val="2650"/>
              </a:lnSpc>
              <a:buNone/>
            </a:pPr>
            <a:r>
              <a:rPr lang="en-US" sz="2150" b="1" dirty="0">
                <a:solidFill>
                  <a:srgbClr val="D7E5D8"/>
                </a:solidFill>
                <a:latin typeface="Syne Extra Bold" pitchFamily="34" charset="0"/>
                <a:ea typeface="Syne Extra Bold" pitchFamily="34" charset="-122"/>
                <a:cs typeface="Syne Extra Bold" pitchFamily="34" charset="-120"/>
              </a:rPr>
              <a:t>Vibrant Palette</a:t>
            </a:r>
            <a:endParaRPr lang="en-US" sz="2150" dirty="0"/>
          </a:p>
        </p:txBody>
      </p:sp>
      <p:sp>
        <p:nvSpPr>
          <p:cNvPr id="7" name="Text 3"/>
          <p:cNvSpPr/>
          <p:nvPr/>
        </p:nvSpPr>
        <p:spPr>
          <a:xfrm>
            <a:off x="6965275" y="2849523"/>
            <a:ext cx="6898243" cy="1051560"/>
          </a:xfrm>
          <a:prstGeom prst="rect">
            <a:avLst/>
          </a:prstGeom>
          <a:noFill/>
          <a:ln/>
        </p:spPr>
        <p:txBody>
          <a:bodyPr wrap="square" lIns="0" tIns="0" rIns="0" bIns="0" rtlCol="0" anchor="t"/>
          <a:lstStyle/>
          <a:p>
            <a:pPr marL="0" indent="0" algn="l">
              <a:lnSpc>
                <a:spcPts val="2750"/>
              </a:lnSpc>
              <a:buNone/>
            </a:pPr>
            <a:r>
              <a:rPr lang="en-US" sz="1700" dirty="0">
                <a:solidFill>
                  <a:srgbClr val="D7E5D8"/>
                </a:solidFill>
                <a:latin typeface="Syne" pitchFamily="34" charset="0"/>
                <a:ea typeface="Syne" pitchFamily="34" charset="-122"/>
                <a:cs typeface="Syne" pitchFamily="34" charset="-120"/>
              </a:rPr>
              <a:t>A dynamic blend of #A9F00F (Neon Green), #547808 (Deep Olive), #81B61C (Lime Green), and #111A23 (Charcoal Black) for striking contrast and modern appeal.</a:t>
            </a:r>
            <a:endParaRPr lang="en-US" sz="1700" dirty="0"/>
          </a:p>
        </p:txBody>
      </p:sp>
      <p:sp>
        <p:nvSpPr>
          <p:cNvPr id="8" name="Shape 4"/>
          <p:cNvSpPr/>
          <p:nvPr/>
        </p:nvSpPr>
        <p:spPr>
          <a:xfrm>
            <a:off x="6253282" y="4339233"/>
            <a:ext cx="492919" cy="492919"/>
          </a:xfrm>
          <a:prstGeom prst="roundRect">
            <a:avLst>
              <a:gd name="adj" fmla="val 18670"/>
            </a:avLst>
          </a:prstGeom>
          <a:solidFill>
            <a:srgbClr val="111A23"/>
          </a:solidFill>
          <a:ln w="7620">
            <a:solidFill>
              <a:srgbClr val="2A333C"/>
            </a:solidFill>
            <a:prstDash val="solid"/>
          </a:ln>
        </p:spPr>
        <p:txBody>
          <a:bodyPr/>
          <a:lstStyle/>
          <a:p>
            <a:endParaRPr lang="en-PK"/>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35435" y="4421386"/>
            <a:ext cx="328613" cy="328613"/>
          </a:xfrm>
          <a:prstGeom prst="rect">
            <a:avLst/>
          </a:prstGeom>
        </p:spPr>
      </p:pic>
      <p:sp>
        <p:nvSpPr>
          <p:cNvPr id="10" name="Text 5"/>
          <p:cNvSpPr/>
          <p:nvPr/>
        </p:nvSpPr>
        <p:spPr>
          <a:xfrm>
            <a:off x="6965275" y="4414480"/>
            <a:ext cx="4342924" cy="342305"/>
          </a:xfrm>
          <a:prstGeom prst="rect">
            <a:avLst/>
          </a:prstGeom>
          <a:noFill/>
          <a:ln/>
        </p:spPr>
        <p:txBody>
          <a:bodyPr wrap="none" lIns="0" tIns="0" rIns="0" bIns="0" rtlCol="0" anchor="t"/>
          <a:lstStyle/>
          <a:p>
            <a:pPr marL="0" indent="0" algn="l">
              <a:lnSpc>
                <a:spcPts val="2650"/>
              </a:lnSpc>
              <a:buNone/>
            </a:pPr>
            <a:r>
              <a:rPr lang="en-US" sz="2150" b="1" dirty="0">
                <a:solidFill>
                  <a:srgbClr val="D7E5D8"/>
                </a:solidFill>
                <a:latin typeface="Syne Extra Bold" pitchFamily="34" charset="0"/>
                <a:ea typeface="Syne Extra Bold" pitchFamily="34" charset="-122"/>
                <a:cs typeface="Syne Extra Bold" pitchFamily="34" charset="-120"/>
              </a:rPr>
              <a:t>Distinctive Branding</a:t>
            </a:r>
            <a:endParaRPr lang="en-US" sz="2150" dirty="0"/>
          </a:p>
        </p:txBody>
      </p:sp>
      <p:sp>
        <p:nvSpPr>
          <p:cNvPr id="11" name="Text 6"/>
          <p:cNvSpPr/>
          <p:nvPr/>
        </p:nvSpPr>
        <p:spPr>
          <a:xfrm>
            <a:off x="6965275" y="4888230"/>
            <a:ext cx="6898243" cy="1051560"/>
          </a:xfrm>
          <a:prstGeom prst="rect">
            <a:avLst/>
          </a:prstGeom>
          <a:noFill/>
          <a:ln/>
        </p:spPr>
        <p:txBody>
          <a:bodyPr wrap="square" lIns="0" tIns="0" rIns="0" bIns="0" rtlCol="0" anchor="t"/>
          <a:lstStyle/>
          <a:p>
            <a:pPr marL="0" indent="0" algn="l">
              <a:lnSpc>
                <a:spcPts val="2750"/>
              </a:lnSpc>
              <a:buNone/>
            </a:pPr>
            <a:r>
              <a:rPr lang="en-US" sz="1700" dirty="0">
                <a:solidFill>
                  <a:srgbClr val="D7E5D8"/>
                </a:solidFill>
                <a:latin typeface="Syne" pitchFamily="34" charset="0"/>
                <a:ea typeface="Syne" pitchFamily="34" charset="-122"/>
                <a:cs typeface="Syne" pitchFamily="34" charset="-120"/>
              </a:rPr>
              <a:t>Leveraging neon green accents against a dark backdrop creates a sophisticated yet energetic brand presence, reinforcing our tech-forward image.</a:t>
            </a:r>
            <a:endParaRPr lang="en-US" sz="1700" dirty="0"/>
          </a:p>
        </p:txBody>
      </p:sp>
      <p:sp>
        <p:nvSpPr>
          <p:cNvPr id="12" name="Shape 7"/>
          <p:cNvSpPr/>
          <p:nvPr/>
        </p:nvSpPr>
        <p:spPr>
          <a:xfrm>
            <a:off x="6253282" y="6377940"/>
            <a:ext cx="492919" cy="492919"/>
          </a:xfrm>
          <a:prstGeom prst="roundRect">
            <a:avLst>
              <a:gd name="adj" fmla="val 18670"/>
            </a:avLst>
          </a:prstGeom>
          <a:solidFill>
            <a:srgbClr val="A9F00F"/>
          </a:solidFill>
          <a:ln w="7620">
            <a:solidFill>
              <a:srgbClr val="8FD600"/>
            </a:solidFill>
            <a:prstDash val="solid"/>
          </a:ln>
        </p:spPr>
        <p:txBody>
          <a:bodyPr/>
          <a:lstStyle/>
          <a:p>
            <a:endParaRPr lang="en-PK"/>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35435" y="6460093"/>
            <a:ext cx="328613" cy="328613"/>
          </a:xfrm>
          <a:prstGeom prst="rect">
            <a:avLst/>
          </a:prstGeom>
        </p:spPr>
      </p:pic>
      <p:sp>
        <p:nvSpPr>
          <p:cNvPr id="14" name="Text 8"/>
          <p:cNvSpPr/>
          <p:nvPr/>
        </p:nvSpPr>
        <p:spPr>
          <a:xfrm>
            <a:off x="6965275" y="6453188"/>
            <a:ext cx="4794766" cy="342305"/>
          </a:xfrm>
          <a:prstGeom prst="rect">
            <a:avLst/>
          </a:prstGeom>
          <a:noFill/>
          <a:ln/>
        </p:spPr>
        <p:txBody>
          <a:bodyPr wrap="none" lIns="0" tIns="0" rIns="0" bIns="0" rtlCol="0" anchor="t"/>
          <a:lstStyle/>
          <a:p>
            <a:pPr marL="0" indent="0" algn="l">
              <a:lnSpc>
                <a:spcPts val="2650"/>
              </a:lnSpc>
              <a:buNone/>
            </a:pPr>
            <a:r>
              <a:rPr lang="en-US" sz="2150" b="1" dirty="0">
                <a:solidFill>
                  <a:srgbClr val="D7E5D8"/>
                </a:solidFill>
                <a:latin typeface="Syne Extra Bold" pitchFamily="34" charset="0"/>
                <a:ea typeface="Syne Extra Bold" pitchFamily="34" charset="-122"/>
                <a:cs typeface="Syne Extra Bold" pitchFamily="34" charset="-120"/>
              </a:rPr>
              <a:t>Enhanced User Focus</a:t>
            </a:r>
            <a:endParaRPr lang="en-US" sz="2150" dirty="0"/>
          </a:p>
        </p:txBody>
      </p:sp>
      <p:sp>
        <p:nvSpPr>
          <p:cNvPr id="15" name="Text 9"/>
          <p:cNvSpPr/>
          <p:nvPr/>
        </p:nvSpPr>
        <p:spPr>
          <a:xfrm>
            <a:off x="6965275" y="6926937"/>
            <a:ext cx="6898243" cy="701040"/>
          </a:xfrm>
          <a:prstGeom prst="rect">
            <a:avLst/>
          </a:prstGeom>
          <a:noFill/>
          <a:ln/>
        </p:spPr>
        <p:txBody>
          <a:bodyPr wrap="square" lIns="0" tIns="0" rIns="0" bIns="0" rtlCol="0" anchor="t"/>
          <a:lstStyle/>
          <a:p>
            <a:pPr marL="0" indent="0" algn="l">
              <a:lnSpc>
                <a:spcPts val="2750"/>
              </a:lnSpc>
              <a:buNone/>
            </a:pPr>
            <a:r>
              <a:rPr lang="en-US" sz="1700" dirty="0">
                <a:solidFill>
                  <a:srgbClr val="D7E5D8"/>
                </a:solidFill>
                <a:latin typeface="Syne" pitchFamily="34" charset="0"/>
                <a:ea typeface="Syne" pitchFamily="34" charset="-122"/>
                <a:cs typeface="Syne" pitchFamily="34" charset="-120"/>
              </a:rPr>
              <a:t>Strategic colour application guides user attention, highlights key actions, and ensures an engaging journey from start to finish.</a:t>
            </a:r>
            <a:endParaRPr lang="en-US" sz="1700" dirty="0"/>
          </a:p>
        </p:txBody>
      </p:sp>
      <p:pic>
        <p:nvPicPr>
          <p:cNvPr id="16" name="Picture 15">
            <a:extLst>
              <a:ext uri="{FF2B5EF4-FFF2-40B4-BE49-F238E27FC236}">
                <a16:creationId xmlns:a16="http://schemas.microsoft.com/office/drawing/2014/main" id="{BE0CBE8D-C67A-0863-91A1-6EF21DA07D9A}"/>
              </a:ext>
            </a:extLst>
          </p:cNvPr>
          <p:cNvPicPr>
            <a:picLocks noChangeAspect="1"/>
          </p:cNvPicPr>
          <p:nvPr/>
        </p:nvPicPr>
        <p:blipFill>
          <a:blip r:embed="rId10"/>
          <a:srcRect l="731"/>
          <a:stretch>
            <a:fillRect/>
          </a:stretch>
        </p:blipFill>
        <p:spPr>
          <a:xfrm>
            <a:off x="-1" y="7917759"/>
            <a:ext cx="14786812" cy="310327"/>
          </a:xfrm>
          <a:prstGeom prst="rect">
            <a:avLst/>
          </a:prstGeom>
        </p:spPr>
      </p:pic>
      <p:grpSp>
        <p:nvGrpSpPr>
          <p:cNvPr id="25" name="Group 24">
            <a:extLst>
              <a:ext uri="{FF2B5EF4-FFF2-40B4-BE49-F238E27FC236}">
                <a16:creationId xmlns:a16="http://schemas.microsoft.com/office/drawing/2014/main" id="{38A7698F-FA63-6DDC-DB37-D9FA584324D6}"/>
              </a:ext>
            </a:extLst>
          </p:cNvPr>
          <p:cNvGrpSpPr/>
          <p:nvPr/>
        </p:nvGrpSpPr>
        <p:grpSpPr>
          <a:xfrm>
            <a:off x="660644" y="1168993"/>
            <a:ext cx="5323114" cy="5887751"/>
            <a:chOff x="667345" y="3132058"/>
            <a:chExt cx="4041934" cy="4576287"/>
          </a:xfrm>
        </p:grpSpPr>
        <p:pic>
          <p:nvPicPr>
            <p:cNvPr id="26" name="Image 1" descr="preencoded.png">
              <a:extLst>
                <a:ext uri="{FF2B5EF4-FFF2-40B4-BE49-F238E27FC236}">
                  <a16:creationId xmlns:a16="http://schemas.microsoft.com/office/drawing/2014/main" id="{C8738009-BC5C-8CAC-3BF2-8E8D8186690B}"/>
                </a:ext>
              </a:extLst>
            </p:cNvPr>
            <p:cNvPicPr>
              <a:picLocks noChangeAspect="1"/>
            </p:cNvPicPr>
            <p:nvPr/>
          </p:nvPicPr>
          <p:blipFill>
            <a:blip r:embed="rId11"/>
            <a:stretch>
              <a:fillRect/>
            </a:stretch>
          </p:blipFill>
          <p:spPr>
            <a:xfrm>
              <a:off x="667345" y="3132058"/>
              <a:ext cx="953453" cy="1144072"/>
            </a:xfrm>
            <a:prstGeom prst="rect">
              <a:avLst/>
            </a:prstGeom>
          </p:spPr>
        </p:pic>
        <p:sp>
          <p:nvSpPr>
            <p:cNvPr id="27" name="Text 2">
              <a:extLst>
                <a:ext uri="{FF2B5EF4-FFF2-40B4-BE49-F238E27FC236}">
                  <a16:creationId xmlns:a16="http://schemas.microsoft.com/office/drawing/2014/main" id="{A4039CBD-6A17-A847-C59D-2F1871EF6841}"/>
                </a:ext>
              </a:extLst>
            </p:cNvPr>
            <p:cNvSpPr/>
            <p:nvPr/>
          </p:nvSpPr>
          <p:spPr>
            <a:xfrm>
              <a:off x="1811417" y="3322677"/>
              <a:ext cx="2470666" cy="297894"/>
            </a:xfrm>
            <a:prstGeom prst="rect">
              <a:avLst/>
            </a:prstGeom>
            <a:noFill/>
            <a:ln/>
          </p:spPr>
          <p:txBody>
            <a:bodyPr wrap="none" lIns="0" tIns="0" rIns="0" bIns="0" rtlCol="0" anchor="t"/>
            <a:lstStyle/>
            <a:p>
              <a:pPr marL="0" indent="0" algn="l">
                <a:lnSpc>
                  <a:spcPts val="2300"/>
                </a:lnSpc>
                <a:buNone/>
              </a:pPr>
              <a:r>
                <a:rPr lang="en-US" sz="1850" b="1" dirty="0">
                  <a:solidFill>
                    <a:srgbClr val="D7E5D8"/>
                  </a:solidFill>
                  <a:latin typeface="Syne Extra Bold" pitchFamily="34" charset="0"/>
                  <a:ea typeface="Syne Extra Bold" pitchFamily="34" charset="-122"/>
                  <a:cs typeface="Syne Extra Bold" pitchFamily="34" charset="-120"/>
                </a:rPr>
                <a:t>Visit Website</a:t>
              </a:r>
              <a:endParaRPr lang="en-US" sz="1850" dirty="0"/>
            </a:p>
          </p:txBody>
        </p:sp>
        <p:pic>
          <p:nvPicPr>
            <p:cNvPr id="28" name="Image 2" descr="preencoded.png">
              <a:extLst>
                <a:ext uri="{FF2B5EF4-FFF2-40B4-BE49-F238E27FC236}">
                  <a16:creationId xmlns:a16="http://schemas.microsoft.com/office/drawing/2014/main" id="{49E908DC-52B1-64B5-AFA4-1E0FD4F9F5F4}"/>
                </a:ext>
              </a:extLst>
            </p:cNvPr>
            <p:cNvPicPr>
              <a:picLocks noChangeAspect="1"/>
            </p:cNvPicPr>
            <p:nvPr/>
          </p:nvPicPr>
          <p:blipFill>
            <a:blip r:embed="rId12"/>
            <a:stretch>
              <a:fillRect/>
            </a:stretch>
          </p:blipFill>
          <p:spPr>
            <a:xfrm>
              <a:off x="667345" y="4276130"/>
              <a:ext cx="953453" cy="1144072"/>
            </a:xfrm>
            <a:prstGeom prst="rect">
              <a:avLst/>
            </a:prstGeom>
          </p:spPr>
        </p:pic>
        <p:sp>
          <p:nvSpPr>
            <p:cNvPr id="29" name="Text 4">
              <a:extLst>
                <a:ext uri="{FF2B5EF4-FFF2-40B4-BE49-F238E27FC236}">
                  <a16:creationId xmlns:a16="http://schemas.microsoft.com/office/drawing/2014/main" id="{C133C244-D8D0-4581-70DA-55BC6138B469}"/>
                </a:ext>
              </a:extLst>
            </p:cNvPr>
            <p:cNvSpPr/>
            <p:nvPr/>
          </p:nvSpPr>
          <p:spPr>
            <a:xfrm>
              <a:off x="1811417" y="4466749"/>
              <a:ext cx="2897862" cy="297894"/>
            </a:xfrm>
            <a:prstGeom prst="rect">
              <a:avLst/>
            </a:prstGeom>
            <a:noFill/>
            <a:ln/>
          </p:spPr>
          <p:txBody>
            <a:bodyPr wrap="none" lIns="0" tIns="0" rIns="0" bIns="0" rtlCol="0" anchor="t"/>
            <a:lstStyle/>
            <a:p>
              <a:pPr marL="0" indent="0" algn="l">
                <a:lnSpc>
                  <a:spcPts val="2300"/>
                </a:lnSpc>
                <a:buNone/>
              </a:pPr>
              <a:r>
                <a:rPr lang="en-US" sz="1850" b="1" dirty="0">
                  <a:solidFill>
                    <a:srgbClr val="D7E5D8"/>
                  </a:solidFill>
                  <a:latin typeface="Syne Extra Bold" pitchFamily="34" charset="0"/>
                  <a:ea typeface="Syne Extra Bold" pitchFamily="34" charset="-122"/>
                  <a:cs typeface="Syne Extra Bold" pitchFamily="34" charset="-120"/>
                </a:rPr>
                <a:t>4-Step Process</a:t>
              </a:r>
              <a:endParaRPr lang="en-US" sz="1850" dirty="0"/>
            </a:p>
          </p:txBody>
        </p:sp>
        <p:pic>
          <p:nvPicPr>
            <p:cNvPr id="30" name="Image 3" descr="preencoded.png">
              <a:extLst>
                <a:ext uri="{FF2B5EF4-FFF2-40B4-BE49-F238E27FC236}">
                  <a16:creationId xmlns:a16="http://schemas.microsoft.com/office/drawing/2014/main" id="{D29D6C96-0DDC-1C3A-8E65-7ADE33084F8B}"/>
                </a:ext>
              </a:extLst>
            </p:cNvPr>
            <p:cNvPicPr>
              <a:picLocks noChangeAspect="1"/>
            </p:cNvPicPr>
            <p:nvPr/>
          </p:nvPicPr>
          <p:blipFill>
            <a:blip r:embed="rId13"/>
            <a:stretch>
              <a:fillRect/>
            </a:stretch>
          </p:blipFill>
          <p:spPr>
            <a:xfrm>
              <a:off x="667345" y="5420201"/>
              <a:ext cx="953453" cy="1144072"/>
            </a:xfrm>
            <a:prstGeom prst="rect">
              <a:avLst/>
            </a:prstGeom>
          </p:spPr>
        </p:pic>
        <p:sp>
          <p:nvSpPr>
            <p:cNvPr id="31" name="Text 6">
              <a:extLst>
                <a:ext uri="{FF2B5EF4-FFF2-40B4-BE49-F238E27FC236}">
                  <a16:creationId xmlns:a16="http://schemas.microsoft.com/office/drawing/2014/main" id="{5395583D-EC74-9E9C-AD07-FBE74E595C04}"/>
                </a:ext>
              </a:extLst>
            </p:cNvPr>
            <p:cNvSpPr/>
            <p:nvPr/>
          </p:nvSpPr>
          <p:spPr>
            <a:xfrm>
              <a:off x="1811417" y="5610820"/>
              <a:ext cx="2786301" cy="297894"/>
            </a:xfrm>
            <a:prstGeom prst="rect">
              <a:avLst/>
            </a:prstGeom>
            <a:noFill/>
            <a:ln/>
          </p:spPr>
          <p:txBody>
            <a:bodyPr wrap="none" lIns="0" tIns="0" rIns="0" bIns="0" rtlCol="0" anchor="t"/>
            <a:lstStyle/>
            <a:p>
              <a:pPr marL="0" indent="0" algn="l">
                <a:lnSpc>
                  <a:spcPts val="2300"/>
                </a:lnSpc>
                <a:buNone/>
              </a:pPr>
              <a:r>
                <a:rPr lang="en-US" sz="1850" b="1" dirty="0">
                  <a:solidFill>
                    <a:srgbClr val="D7E5D8"/>
                  </a:solidFill>
                  <a:latin typeface="Syne Extra Bold" pitchFamily="34" charset="0"/>
                  <a:ea typeface="Syne Extra Bold" pitchFamily="34" charset="-122"/>
                  <a:cs typeface="Syne Extra Bold" pitchFamily="34" charset="-120"/>
                </a:rPr>
                <a:t>Instant Quotes</a:t>
              </a:r>
              <a:endParaRPr lang="en-US" sz="1850" dirty="0"/>
            </a:p>
          </p:txBody>
        </p:sp>
        <p:pic>
          <p:nvPicPr>
            <p:cNvPr id="32" name="Image 4" descr="preencoded.png">
              <a:extLst>
                <a:ext uri="{FF2B5EF4-FFF2-40B4-BE49-F238E27FC236}">
                  <a16:creationId xmlns:a16="http://schemas.microsoft.com/office/drawing/2014/main" id="{5729488A-C9EA-069C-39EA-E5511DA6E2E7}"/>
                </a:ext>
              </a:extLst>
            </p:cNvPr>
            <p:cNvPicPr>
              <a:picLocks noChangeAspect="1"/>
            </p:cNvPicPr>
            <p:nvPr/>
          </p:nvPicPr>
          <p:blipFill>
            <a:blip r:embed="rId14"/>
            <a:stretch>
              <a:fillRect/>
            </a:stretch>
          </p:blipFill>
          <p:spPr>
            <a:xfrm>
              <a:off x="667345" y="6564273"/>
              <a:ext cx="953453" cy="1144072"/>
            </a:xfrm>
            <a:prstGeom prst="rect">
              <a:avLst/>
            </a:prstGeom>
          </p:spPr>
        </p:pic>
        <p:sp>
          <p:nvSpPr>
            <p:cNvPr id="33" name="Text 8">
              <a:extLst>
                <a:ext uri="{FF2B5EF4-FFF2-40B4-BE49-F238E27FC236}">
                  <a16:creationId xmlns:a16="http://schemas.microsoft.com/office/drawing/2014/main" id="{51E8C417-F827-B577-C578-8CE10202D62E}"/>
                </a:ext>
              </a:extLst>
            </p:cNvPr>
            <p:cNvSpPr/>
            <p:nvPr/>
          </p:nvSpPr>
          <p:spPr>
            <a:xfrm>
              <a:off x="1811417" y="6754892"/>
              <a:ext cx="2700576" cy="297894"/>
            </a:xfrm>
            <a:prstGeom prst="rect">
              <a:avLst/>
            </a:prstGeom>
            <a:noFill/>
            <a:ln/>
          </p:spPr>
          <p:txBody>
            <a:bodyPr wrap="none" lIns="0" tIns="0" rIns="0" bIns="0" rtlCol="0" anchor="t"/>
            <a:lstStyle/>
            <a:p>
              <a:pPr marL="0" indent="0" algn="l">
                <a:lnSpc>
                  <a:spcPts val="2300"/>
                </a:lnSpc>
                <a:buNone/>
              </a:pPr>
              <a:r>
                <a:rPr lang="en-US" sz="1850" b="1" dirty="0">
                  <a:solidFill>
                    <a:srgbClr val="D7E5D8"/>
                  </a:solidFill>
                  <a:latin typeface="Syne Extra Bold" pitchFamily="34" charset="0"/>
                  <a:ea typeface="Syne Extra Bold" pitchFamily="34" charset="-122"/>
                  <a:cs typeface="Syne Extra Bold" pitchFamily="34" charset="-120"/>
                </a:rPr>
                <a:t>Fast Payment</a:t>
              </a:r>
              <a:endParaRPr lang="en-US" sz="1850" dirty="0"/>
            </a:p>
          </p:txBody>
        </p:sp>
      </p:grpSp>
      <p:sp>
        <p:nvSpPr>
          <p:cNvPr id="34" name="Shape 5">
            <a:extLst>
              <a:ext uri="{FF2B5EF4-FFF2-40B4-BE49-F238E27FC236}">
                <a16:creationId xmlns:a16="http://schemas.microsoft.com/office/drawing/2014/main" id="{ED6BFA28-2EA9-18E2-ECB2-309A629E62CB}"/>
              </a:ext>
            </a:extLst>
          </p:cNvPr>
          <p:cNvSpPr/>
          <p:nvPr/>
        </p:nvSpPr>
        <p:spPr>
          <a:xfrm>
            <a:off x="5469867" y="0"/>
            <a:ext cx="369552" cy="7917759"/>
          </a:xfrm>
          <a:prstGeom prst="rect">
            <a:avLst/>
          </a:prstGeom>
          <a:solidFill>
            <a:srgbClr val="A9F00F"/>
          </a:solidFill>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anim calcmode="lin" valueType="num">
                                      <p:cBhvr>
                                        <p:cTn id="11" dur="1000" fill="hold"/>
                                        <p:tgtEl>
                                          <p:spTgt spid="3"/>
                                        </p:tgtEl>
                                        <p:attrNameLst>
                                          <p:attrName>ppt_x</p:attrName>
                                        </p:attrNameLst>
                                      </p:cBhvr>
                                      <p:tavLst>
                                        <p:tav tm="0">
                                          <p:val>
                                            <p:strVal val="#ppt_x"/>
                                          </p:val>
                                        </p:tav>
                                        <p:tav tm="100000">
                                          <p:val>
                                            <p:strVal val="#ppt_x"/>
                                          </p:val>
                                        </p:tav>
                                      </p:tavLst>
                                    </p:anim>
                                    <p:anim calcmode="lin" valueType="num">
                                      <p:cBhvr>
                                        <p:cTn id="12" dur="1000" fill="hold"/>
                                        <p:tgtEl>
                                          <p:spTgt spid="3"/>
                                        </p:tgtEl>
                                        <p:attrNameLst>
                                          <p:attrName>ppt_y</p:attrName>
                                        </p:attrNameLst>
                                      </p:cBhvr>
                                      <p:tavLst>
                                        <p:tav tm="0">
                                          <p:val>
                                            <p:strVal val="#ppt_y+.1"/>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6" presetClass="emph" presetSubtype="0" fill="hold" nodeType="withEffect">
                                  <p:stCondLst>
                                    <p:cond delay="0"/>
                                  </p:stCondLst>
                                  <p:childTnLst>
                                    <p:animEffect transition="out" filter="fade">
                                      <p:cBhvr>
                                        <p:cTn id="17" dur="500" tmFilter="0, 0; .2, .5; .8, .5; 1, 0"/>
                                        <p:tgtEl>
                                          <p:spTgt spid="4"/>
                                        </p:tgtEl>
                                      </p:cBhvr>
                                    </p:animEffect>
                                    <p:animScale>
                                      <p:cBhvr>
                                        <p:cTn id="18" dur="250" autoRev="1" fill="hold"/>
                                        <p:tgtEl>
                                          <p:spTgt spid="4"/>
                                        </p:tgtEl>
                                      </p:cBhvr>
                                      <p:by x="105000" y="105000"/>
                                    </p:animScale>
                                  </p:childTnLst>
                                </p:cTn>
                              </p:par>
                              <p:par>
                                <p:cTn id="19" presetID="26" presetClass="emph" presetSubtype="0" fill="hold" nodeType="withEffect">
                                  <p:stCondLst>
                                    <p:cond delay="0"/>
                                  </p:stCondLst>
                                  <p:childTnLst>
                                    <p:animEffect transition="out" filter="fade">
                                      <p:cBhvr>
                                        <p:cTn id="20" dur="500" tmFilter="0, 0; .2, .5; .8, .5; 1, 0"/>
                                        <p:tgtEl>
                                          <p:spTgt spid="13"/>
                                        </p:tgtEl>
                                      </p:cBhvr>
                                    </p:animEffect>
                                    <p:animScale>
                                      <p:cBhvr>
                                        <p:cTn id="21"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17019"/>
          </a:xfrm>
          <a:prstGeom prst="rect">
            <a:avLst/>
          </a:prstGeom>
        </p:spPr>
      </p:pic>
      <p:sp>
        <p:nvSpPr>
          <p:cNvPr id="3" name="Text 0"/>
          <p:cNvSpPr/>
          <p:nvPr/>
        </p:nvSpPr>
        <p:spPr>
          <a:xfrm>
            <a:off x="788670" y="3436739"/>
            <a:ext cx="12061627" cy="704255"/>
          </a:xfrm>
          <a:prstGeom prst="rect">
            <a:avLst/>
          </a:prstGeom>
          <a:noFill/>
          <a:ln/>
        </p:spPr>
        <p:txBody>
          <a:bodyPr wrap="none" lIns="0" tIns="0" rIns="0" bIns="0" rtlCol="0" anchor="t"/>
          <a:lstStyle/>
          <a:p>
            <a:pPr marL="0" indent="0" algn="l">
              <a:lnSpc>
                <a:spcPts val="5500"/>
              </a:lnSpc>
              <a:buNone/>
            </a:pPr>
            <a:r>
              <a:rPr lang="en-US" sz="4400" b="1" dirty="0">
                <a:solidFill>
                  <a:srgbClr val="F0F4F1"/>
                </a:solidFill>
                <a:latin typeface="Syne Extra Bold" pitchFamily="34" charset="0"/>
                <a:ea typeface="Syne Extra Bold" pitchFamily="34" charset="-122"/>
                <a:cs typeface="Syne Extra Bold" pitchFamily="34" charset="-120"/>
              </a:rPr>
              <a:t>Intuitive Homepage Layout</a:t>
            </a:r>
            <a:endParaRPr lang="en-US" sz="4400" dirty="0"/>
          </a:p>
        </p:txBody>
      </p:sp>
      <p:sp>
        <p:nvSpPr>
          <p:cNvPr id="4" name="Text 1"/>
          <p:cNvSpPr/>
          <p:nvPr/>
        </p:nvSpPr>
        <p:spPr>
          <a:xfrm>
            <a:off x="788670" y="4681776"/>
            <a:ext cx="6931700" cy="1442085"/>
          </a:xfrm>
          <a:prstGeom prst="rect">
            <a:avLst/>
          </a:prstGeom>
          <a:noFill/>
          <a:ln/>
        </p:spPr>
        <p:txBody>
          <a:bodyPr wrap="square" lIns="0" tIns="0" rIns="0" bIns="0" rtlCol="0" anchor="t"/>
          <a:lstStyle/>
          <a:p>
            <a:pPr marL="0" indent="0" algn="l">
              <a:lnSpc>
                <a:spcPts val="2800"/>
              </a:lnSpc>
              <a:buNone/>
            </a:pPr>
            <a:r>
              <a:rPr lang="en-US" sz="1750" dirty="0">
                <a:solidFill>
                  <a:srgbClr val="D7E5D8"/>
                </a:solidFill>
                <a:latin typeface="Syne" pitchFamily="34" charset="0"/>
                <a:ea typeface="Syne" pitchFamily="34" charset="-122"/>
                <a:cs typeface="Syne" pitchFamily="34" charset="-120"/>
              </a:rPr>
              <a:t>Our homepage is meticulously designed for immediate impact and effortless navigation. A prominent hero section showcases featured devices or promotions, drawing users in with captivating visuals and clear calls to action.</a:t>
            </a:r>
            <a:endParaRPr lang="en-US" sz="1750" dirty="0"/>
          </a:p>
        </p:txBody>
      </p:sp>
      <p:sp>
        <p:nvSpPr>
          <p:cNvPr id="5" name="Text 2"/>
          <p:cNvSpPr/>
          <p:nvPr/>
        </p:nvSpPr>
        <p:spPr>
          <a:xfrm>
            <a:off x="788670" y="6326624"/>
            <a:ext cx="6931700" cy="1081564"/>
          </a:xfrm>
          <a:prstGeom prst="rect">
            <a:avLst/>
          </a:prstGeom>
          <a:noFill/>
          <a:ln/>
        </p:spPr>
        <p:txBody>
          <a:bodyPr wrap="square" lIns="0" tIns="0" rIns="0" bIns="0" rtlCol="0" anchor="t"/>
          <a:lstStyle/>
          <a:p>
            <a:pPr marL="0" indent="0" algn="l">
              <a:lnSpc>
                <a:spcPts val="2800"/>
              </a:lnSpc>
              <a:buNone/>
            </a:pPr>
            <a:r>
              <a:rPr lang="en-US" sz="1750" dirty="0">
                <a:solidFill>
                  <a:srgbClr val="D7E5D8"/>
                </a:solidFill>
                <a:latin typeface="Syne" pitchFamily="34" charset="0"/>
                <a:ea typeface="Syne" pitchFamily="34" charset="-122"/>
                <a:cs typeface="Syne" pitchFamily="34" charset="-120"/>
              </a:rPr>
              <a:t>Below, logically organised sections lead users to popular categories, step-by-step guides, and customer testimonials, ensuring a smooth flow through the trade-in process.</a:t>
            </a:r>
            <a:endParaRPr lang="en-US" sz="1750" dirty="0"/>
          </a:p>
        </p:txBody>
      </p:sp>
      <p:pic>
        <p:nvPicPr>
          <p:cNvPr id="10" name="Image 0" descr="preencoded.png">
            <a:extLst>
              <a:ext uri="{FF2B5EF4-FFF2-40B4-BE49-F238E27FC236}">
                <a16:creationId xmlns:a16="http://schemas.microsoft.com/office/drawing/2014/main" id="{A9184B90-38F9-EAFD-86A8-B8EE4D88CF00}"/>
              </a:ext>
            </a:extLst>
          </p:cNvPr>
          <p:cNvPicPr>
            <a:picLocks noChangeAspect="1"/>
          </p:cNvPicPr>
          <p:nvPr/>
        </p:nvPicPr>
        <p:blipFill>
          <a:blip r:embed="rId4"/>
          <a:stretch>
            <a:fillRect/>
          </a:stretch>
        </p:blipFill>
        <p:spPr>
          <a:xfrm>
            <a:off x="8303422" y="4583407"/>
            <a:ext cx="4056578" cy="2304336"/>
          </a:xfrm>
          <a:prstGeom prst="rect">
            <a:avLst/>
          </a:prstGeom>
        </p:spPr>
      </p:pic>
      <p:pic>
        <p:nvPicPr>
          <p:cNvPr id="11" name="Picture 10">
            <a:extLst>
              <a:ext uri="{FF2B5EF4-FFF2-40B4-BE49-F238E27FC236}">
                <a16:creationId xmlns:a16="http://schemas.microsoft.com/office/drawing/2014/main" id="{E173CA87-2E62-1953-AE27-828B5B5B5784}"/>
              </a:ext>
            </a:extLst>
          </p:cNvPr>
          <p:cNvPicPr>
            <a:picLocks noChangeAspect="1"/>
          </p:cNvPicPr>
          <p:nvPr/>
        </p:nvPicPr>
        <p:blipFill>
          <a:blip r:embed="rId5"/>
          <a:srcRect l="731"/>
          <a:stretch>
            <a:fillRect/>
          </a:stretch>
        </p:blipFill>
        <p:spPr>
          <a:xfrm>
            <a:off x="-1" y="7917759"/>
            <a:ext cx="14786812" cy="310327"/>
          </a:xfrm>
          <a:prstGeom prst="rect">
            <a:avLst/>
          </a:prstGeom>
        </p:spPr>
      </p:pic>
      <p:pic>
        <p:nvPicPr>
          <p:cNvPr id="13" name="Picture 12">
            <a:extLst>
              <a:ext uri="{FF2B5EF4-FFF2-40B4-BE49-F238E27FC236}">
                <a16:creationId xmlns:a16="http://schemas.microsoft.com/office/drawing/2014/main" id="{08F3B14D-7406-454F-5AD2-69CDD4662163}"/>
              </a:ext>
            </a:extLst>
          </p:cNvPr>
          <p:cNvPicPr>
            <a:picLocks noChangeAspect="1"/>
          </p:cNvPicPr>
          <p:nvPr/>
        </p:nvPicPr>
        <p:blipFill>
          <a:blip r:embed="rId6"/>
          <a:stretch>
            <a:fillRect/>
          </a:stretch>
        </p:blipFill>
        <p:spPr>
          <a:xfrm>
            <a:off x="3550320" y="191134"/>
            <a:ext cx="7686170" cy="2434749"/>
          </a:xfrm>
          <a:prstGeom prst="rect">
            <a:avLst/>
          </a:prstGeom>
        </p:spPr>
      </p:pic>
      <p:sp>
        <p:nvSpPr>
          <p:cNvPr id="17" name="Shape 5">
            <a:extLst>
              <a:ext uri="{FF2B5EF4-FFF2-40B4-BE49-F238E27FC236}">
                <a16:creationId xmlns:a16="http://schemas.microsoft.com/office/drawing/2014/main" id="{A708708B-F217-DFFF-3D66-691F78DF524E}"/>
              </a:ext>
            </a:extLst>
          </p:cNvPr>
          <p:cNvSpPr/>
          <p:nvPr/>
        </p:nvSpPr>
        <p:spPr>
          <a:xfrm>
            <a:off x="-121" y="2771182"/>
            <a:ext cx="14630401" cy="197166"/>
          </a:xfrm>
          <a:prstGeom prst="rect">
            <a:avLst/>
          </a:prstGeom>
          <a:solidFill>
            <a:srgbClr val="A9F00F"/>
          </a:solidFill>
          <a:ln/>
        </p:spPr>
        <p:txBody>
          <a:bodyPr/>
          <a:lstStyle/>
          <a:p>
            <a:endParaRPr lang="en-US" dirty="0"/>
          </a:p>
        </p:txBody>
      </p:sp>
      <p:sp>
        <p:nvSpPr>
          <p:cNvPr id="18" name="Shape 5">
            <a:extLst>
              <a:ext uri="{FF2B5EF4-FFF2-40B4-BE49-F238E27FC236}">
                <a16:creationId xmlns:a16="http://schemas.microsoft.com/office/drawing/2014/main" id="{5D38D1C3-3E0C-C6CC-38FD-EBC63532B82D}"/>
              </a:ext>
            </a:extLst>
          </p:cNvPr>
          <p:cNvSpPr/>
          <p:nvPr/>
        </p:nvSpPr>
        <p:spPr>
          <a:xfrm>
            <a:off x="8841538" y="4959413"/>
            <a:ext cx="2980347" cy="1552324"/>
          </a:xfrm>
          <a:prstGeom prst="rect">
            <a:avLst/>
          </a:prstGeom>
          <a:solidFill>
            <a:schemeClr val="bg1"/>
          </a:solidFill>
          <a:ln/>
        </p:spPr>
        <p:txBody>
          <a:bodyPr/>
          <a:lstStyle/>
          <a:p>
            <a:endParaRPr lang="en-US" dirty="0"/>
          </a:p>
        </p:txBody>
      </p:sp>
      <p:pic>
        <p:nvPicPr>
          <p:cNvPr id="20" name="Picture 19">
            <a:extLst>
              <a:ext uri="{FF2B5EF4-FFF2-40B4-BE49-F238E27FC236}">
                <a16:creationId xmlns:a16="http://schemas.microsoft.com/office/drawing/2014/main" id="{2638F809-ECFC-6424-4E30-1DCDFBDBA1CA}"/>
              </a:ext>
            </a:extLst>
          </p:cNvPr>
          <p:cNvPicPr>
            <a:picLocks noChangeAspect="1"/>
          </p:cNvPicPr>
          <p:nvPr/>
        </p:nvPicPr>
        <p:blipFill>
          <a:blip r:embed="rId7"/>
          <a:stretch>
            <a:fillRect/>
          </a:stretch>
        </p:blipFill>
        <p:spPr>
          <a:xfrm>
            <a:off x="9436996" y="5363698"/>
            <a:ext cx="1695450" cy="6858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41363" y="812959"/>
            <a:ext cx="7834074" cy="1754505"/>
          </a:xfrm>
          <a:prstGeom prst="rect">
            <a:avLst/>
          </a:prstGeom>
          <a:noFill/>
          <a:ln/>
        </p:spPr>
        <p:txBody>
          <a:bodyPr wrap="square" lIns="0" tIns="0" rIns="0" bIns="0" rtlCol="0" anchor="t"/>
          <a:lstStyle/>
          <a:p>
            <a:pPr marL="0" indent="0" algn="l">
              <a:lnSpc>
                <a:spcPts val="4600"/>
              </a:lnSpc>
              <a:buNone/>
            </a:pPr>
            <a:r>
              <a:rPr lang="en-US" sz="3650" b="1" dirty="0">
                <a:solidFill>
                  <a:srgbClr val="F0F4F1"/>
                </a:solidFill>
                <a:latin typeface="Syne Extra Bold" pitchFamily="34" charset="0"/>
                <a:ea typeface="Syne Extra Bold" pitchFamily="34" charset="-122"/>
                <a:cs typeface="Syne Extra Bold" pitchFamily="34" charset="-120"/>
              </a:rPr>
              <a:t>Seamless Navigation Bar Design</a:t>
            </a:r>
            <a:endParaRPr lang="en-US" sz="3650" dirty="0"/>
          </a:p>
        </p:txBody>
      </p:sp>
      <p:sp>
        <p:nvSpPr>
          <p:cNvPr id="4" name="Text 1"/>
          <p:cNvSpPr/>
          <p:nvPr/>
        </p:nvSpPr>
        <p:spPr>
          <a:xfrm>
            <a:off x="6141363" y="2848094"/>
            <a:ext cx="7834074" cy="598884"/>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The navigation bar is a cornerstone of usability, providing clear pathways to essential areas of the site.</a:t>
            </a:r>
            <a:endParaRPr lang="en-US" sz="14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1491" y="3663196"/>
            <a:ext cx="280630" cy="280630"/>
          </a:xfrm>
          <a:prstGeom prst="rect">
            <a:avLst/>
          </a:prstGeom>
        </p:spPr>
      </p:pic>
      <p:sp>
        <p:nvSpPr>
          <p:cNvPr id="6" name="Text 2"/>
          <p:cNvSpPr/>
          <p:nvPr/>
        </p:nvSpPr>
        <p:spPr>
          <a:xfrm>
            <a:off x="6749415" y="3657481"/>
            <a:ext cx="3150989" cy="292418"/>
          </a:xfrm>
          <a:prstGeom prst="rect">
            <a:avLst/>
          </a:prstGeom>
          <a:noFill/>
          <a:ln/>
        </p:spPr>
        <p:txBody>
          <a:bodyPr wrap="none" lIns="0" tIns="0" rIns="0" bIns="0" rtlCol="0" anchor="t"/>
          <a:lstStyle/>
          <a:p>
            <a:pPr marL="0" indent="0" algn="l">
              <a:lnSpc>
                <a:spcPts val="2300"/>
              </a:lnSpc>
              <a:buNone/>
            </a:pPr>
            <a:r>
              <a:rPr lang="en-US" sz="1800" b="1" dirty="0">
                <a:solidFill>
                  <a:srgbClr val="D7E5D8"/>
                </a:solidFill>
                <a:latin typeface="Syne Extra Bold" pitchFamily="34" charset="0"/>
                <a:ea typeface="Syne Extra Bold" pitchFamily="34" charset="-122"/>
                <a:cs typeface="Syne Extra Bold" pitchFamily="34" charset="-120"/>
              </a:rPr>
              <a:t>Clean Aesthetics</a:t>
            </a:r>
            <a:endParaRPr lang="en-US" sz="1800" dirty="0"/>
          </a:p>
        </p:txBody>
      </p:sp>
      <p:sp>
        <p:nvSpPr>
          <p:cNvPr id="7" name="Text 3"/>
          <p:cNvSpPr/>
          <p:nvPr/>
        </p:nvSpPr>
        <p:spPr>
          <a:xfrm>
            <a:off x="6749415" y="4062174"/>
            <a:ext cx="7226022" cy="598884"/>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Minimalist design with clear, concise labels ensures users can quickly find what they need without cognitive overload.</a:t>
            </a:r>
            <a:endParaRPr lang="en-US" sz="14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1491" y="5040987"/>
            <a:ext cx="280630" cy="280630"/>
          </a:xfrm>
          <a:prstGeom prst="rect">
            <a:avLst/>
          </a:prstGeom>
        </p:spPr>
      </p:pic>
      <p:sp>
        <p:nvSpPr>
          <p:cNvPr id="9" name="Text 4"/>
          <p:cNvSpPr/>
          <p:nvPr/>
        </p:nvSpPr>
        <p:spPr>
          <a:xfrm>
            <a:off x="6749415" y="5035272"/>
            <a:ext cx="4112538" cy="292418"/>
          </a:xfrm>
          <a:prstGeom prst="rect">
            <a:avLst/>
          </a:prstGeom>
          <a:noFill/>
          <a:ln/>
        </p:spPr>
        <p:txBody>
          <a:bodyPr wrap="none" lIns="0" tIns="0" rIns="0" bIns="0" rtlCol="0" anchor="t"/>
          <a:lstStyle/>
          <a:p>
            <a:pPr marL="0" indent="0" algn="l">
              <a:lnSpc>
                <a:spcPts val="2300"/>
              </a:lnSpc>
              <a:buNone/>
            </a:pPr>
            <a:r>
              <a:rPr lang="en-US" sz="1800" b="1" dirty="0">
                <a:solidFill>
                  <a:srgbClr val="D7E5D8"/>
                </a:solidFill>
                <a:latin typeface="Syne Extra Bold" pitchFamily="34" charset="0"/>
                <a:ea typeface="Syne Extra Bold" pitchFamily="34" charset="-122"/>
                <a:cs typeface="Syne Extra Bold" pitchFamily="34" charset="-120"/>
              </a:rPr>
              <a:t>Responsive Behaviour</a:t>
            </a:r>
            <a:endParaRPr lang="en-US" sz="1800" dirty="0"/>
          </a:p>
        </p:txBody>
      </p:sp>
      <p:sp>
        <p:nvSpPr>
          <p:cNvPr id="10" name="Text 5"/>
          <p:cNvSpPr/>
          <p:nvPr/>
        </p:nvSpPr>
        <p:spPr>
          <a:xfrm>
            <a:off x="6749415" y="5439966"/>
            <a:ext cx="7226022" cy="598884"/>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Optimised for all devices, the navigation intuitively transforms from a sleek horizontal menu to a responsive hamburger menu on smaller screens.</a:t>
            </a:r>
            <a:endParaRPr lang="en-US" sz="1450" dirty="0"/>
          </a:p>
        </p:txBody>
      </p:sp>
      <p:pic>
        <p:nvPicPr>
          <p:cNvPr id="1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1491" y="6418778"/>
            <a:ext cx="280630" cy="280630"/>
          </a:xfrm>
          <a:prstGeom prst="rect">
            <a:avLst/>
          </a:prstGeom>
        </p:spPr>
      </p:pic>
      <p:sp>
        <p:nvSpPr>
          <p:cNvPr id="12" name="Text 6"/>
          <p:cNvSpPr/>
          <p:nvPr/>
        </p:nvSpPr>
        <p:spPr>
          <a:xfrm>
            <a:off x="6749415" y="6413063"/>
            <a:ext cx="2339221" cy="292418"/>
          </a:xfrm>
          <a:prstGeom prst="rect">
            <a:avLst/>
          </a:prstGeom>
          <a:noFill/>
          <a:ln/>
        </p:spPr>
        <p:txBody>
          <a:bodyPr wrap="none" lIns="0" tIns="0" rIns="0" bIns="0" rtlCol="0" anchor="t"/>
          <a:lstStyle/>
          <a:p>
            <a:pPr marL="0" indent="0" algn="l">
              <a:lnSpc>
                <a:spcPts val="2300"/>
              </a:lnSpc>
              <a:buNone/>
            </a:pPr>
            <a:r>
              <a:rPr lang="en-US" sz="1800" b="1" dirty="0">
                <a:solidFill>
                  <a:srgbClr val="D7E5D8"/>
                </a:solidFill>
                <a:latin typeface="Syne Extra Bold" pitchFamily="34" charset="0"/>
                <a:ea typeface="Syne Extra Bold" pitchFamily="34" charset="-122"/>
                <a:cs typeface="Syne Extra Bold" pitchFamily="34" charset="-120"/>
              </a:rPr>
              <a:t>Visual Cues</a:t>
            </a:r>
            <a:endParaRPr lang="en-US" sz="1800" dirty="0"/>
          </a:p>
        </p:txBody>
      </p:sp>
      <p:sp>
        <p:nvSpPr>
          <p:cNvPr id="13" name="Text 7"/>
          <p:cNvSpPr/>
          <p:nvPr/>
        </p:nvSpPr>
        <p:spPr>
          <a:xfrm>
            <a:off x="6749415" y="6817757"/>
            <a:ext cx="7226022" cy="598884"/>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Subtle neon green highlights indicate the active page, providing instant feedback and enhancing the user's sense of location within the site.</a:t>
            </a:r>
            <a:endParaRPr lang="en-US" sz="1450" dirty="0"/>
          </a:p>
        </p:txBody>
      </p:sp>
      <p:pic>
        <p:nvPicPr>
          <p:cNvPr id="14" name="Picture 13">
            <a:extLst>
              <a:ext uri="{FF2B5EF4-FFF2-40B4-BE49-F238E27FC236}">
                <a16:creationId xmlns:a16="http://schemas.microsoft.com/office/drawing/2014/main" id="{588CD703-0319-B8C6-01F5-55E75907A3D8}"/>
              </a:ext>
            </a:extLst>
          </p:cNvPr>
          <p:cNvPicPr>
            <a:picLocks noChangeAspect="1"/>
          </p:cNvPicPr>
          <p:nvPr/>
        </p:nvPicPr>
        <p:blipFill>
          <a:blip r:embed="rId6"/>
          <a:srcRect l="731"/>
          <a:stretch>
            <a:fillRect/>
          </a:stretch>
        </p:blipFill>
        <p:spPr>
          <a:xfrm>
            <a:off x="-1" y="7917759"/>
            <a:ext cx="14786812" cy="310327"/>
          </a:xfrm>
          <a:prstGeom prst="rect">
            <a:avLst/>
          </a:prstGeom>
        </p:spPr>
      </p:pic>
      <p:pic>
        <p:nvPicPr>
          <p:cNvPr id="16" name="Picture 15">
            <a:extLst>
              <a:ext uri="{FF2B5EF4-FFF2-40B4-BE49-F238E27FC236}">
                <a16:creationId xmlns:a16="http://schemas.microsoft.com/office/drawing/2014/main" id="{4C42CEF3-33D9-9FDF-335D-8CC55A83FD73}"/>
              </a:ext>
            </a:extLst>
          </p:cNvPr>
          <p:cNvPicPr>
            <a:picLocks noChangeAspect="1"/>
          </p:cNvPicPr>
          <p:nvPr/>
        </p:nvPicPr>
        <p:blipFill>
          <a:blip r:embed="rId7"/>
          <a:stretch>
            <a:fillRect/>
          </a:stretch>
        </p:blipFill>
        <p:spPr>
          <a:xfrm>
            <a:off x="-491936" y="733187"/>
            <a:ext cx="6109080" cy="7183058"/>
          </a:xfrm>
          <a:prstGeom prst="rect">
            <a:avLst/>
          </a:prstGeom>
        </p:spPr>
      </p:pic>
      <p:sp>
        <p:nvSpPr>
          <p:cNvPr id="17" name="Shape 5">
            <a:extLst>
              <a:ext uri="{FF2B5EF4-FFF2-40B4-BE49-F238E27FC236}">
                <a16:creationId xmlns:a16="http://schemas.microsoft.com/office/drawing/2014/main" id="{DD658DF7-F42A-9E88-A295-C084A9DF8D19}"/>
              </a:ext>
            </a:extLst>
          </p:cNvPr>
          <p:cNvSpPr/>
          <p:nvPr/>
        </p:nvSpPr>
        <p:spPr>
          <a:xfrm>
            <a:off x="5460077" y="0"/>
            <a:ext cx="414362" cy="7917759"/>
          </a:xfrm>
          <a:prstGeom prst="rect">
            <a:avLst/>
          </a:prstGeom>
          <a:solidFill>
            <a:srgbClr val="A9F00F"/>
          </a:solidFill>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26" presetClass="emph" presetSubtype="0" fill="hold" nodeType="withEffect">
                                  <p:stCondLst>
                                    <p:cond delay="0"/>
                                  </p:stCondLst>
                                  <p:childTnLst>
                                    <p:animEffect transition="out" filter="fade">
                                      <p:cBhvr>
                                        <p:cTn id="16" dur="2000" tmFilter="0, 0; .2, .5; .8, .5; 1, 0"/>
                                        <p:tgtEl>
                                          <p:spTgt spid="16"/>
                                        </p:tgtEl>
                                      </p:cBhvr>
                                    </p:animEffect>
                                    <p:animScale>
                                      <p:cBhvr>
                                        <p:cTn id="17" dur="100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97813" y="881182"/>
            <a:ext cx="7948374" cy="1067514"/>
          </a:xfrm>
          <a:prstGeom prst="rect">
            <a:avLst/>
          </a:prstGeom>
          <a:noFill/>
          <a:ln/>
        </p:spPr>
        <p:txBody>
          <a:bodyPr wrap="square" lIns="0" tIns="0" rIns="0" bIns="0" rtlCol="0" anchor="t"/>
          <a:lstStyle/>
          <a:p>
            <a:pPr marL="0" indent="0" algn="l">
              <a:lnSpc>
                <a:spcPts val="4200"/>
              </a:lnSpc>
              <a:buNone/>
            </a:pPr>
            <a:r>
              <a:rPr lang="en-US" sz="3350" b="1" dirty="0">
                <a:solidFill>
                  <a:srgbClr val="F0F4F1"/>
                </a:solidFill>
                <a:latin typeface="Syne Extra Bold" pitchFamily="34" charset="0"/>
                <a:ea typeface="Syne Extra Bold" pitchFamily="34" charset="-122"/>
                <a:cs typeface="Syne Extra Bold" pitchFamily="34" charset="-120"/>
              </a:rPr>
              <a:t>Streamlined Category Cards</a:t>
            </a:r>
            <a:endParaRPr lang="en-US" sz="3350" dirty="0"/>
          </a:p>
        </p:txBody>
      </p:sp>
      <p:sp>
        <p:nvSpPr>
          <p:cNvPr id="4" name="Text 1"/>
          <p:cNvSpPr/>
          <p:nvPr/>
        </p:nvSpPr>
        <p:spPr>
          <a:xfrm>
            <a:off x="597813" y="2204918"/>
            <a:ext cx="7948374" cy="546735"/>
          </a:xfrm>
          <a:prstGeom prst="rect">
            <a:avLst/>
          </a:prstGeom>
          <a:noFill/>
          <a:ln/>
        </p:spPr>
        <p:txBody>
          <a:bodyPr wrap="square" lIns="0" tIns="0" rIns="0" bIns="0" rtlCol="0" anchor="t"/>
          <a:lstStyle/>
          <a:p>
            <a:pPr marL="0" indent="0" algn="l">
              <a:lnSpc>
                <a:spcPts val="2150"/>
              </a:lnSpc>
              <a:buNone/>
            </a:pPr>
            <a:r>
              <a:rPr lang="en-US" sz="1300" dirty="0">
                <a:solidFill>
                  <a:srgbClr val="D7E5D8"/>
                </a:solidFill>
                <a:latin typeface="Syne" pitchFamily="34" charset="0"/>
                <a:ea typeface="Syne" pitchFamily="34" charset="-122"/>
                <a:cs typeface="Syne" pitchFamily="34" charset="-120"/>
              </a:rPr>
              <a:t>Category cards are crafted for clarity and visual appeal, making device selection straightforward and engaging.</a:t>
            </a:r>
            <a:endParaRPr lang="en-US" sz="1300" dirty="0"/>
          </a:p>
        </p:txBody>
      </p:sp>
      <p:sp>
        <p:nvSpPr>
          <p:cNvPr id="5" name="Shape 2"/>
          <p:cNvSpPr/>
          <p:nvPr/>
        </p:nvSpPr>
        <p:spPr>
          <a:xfrm>
            <a:off x="597813" y="2943820"/>
            <a:ext cx="3888819" cy="2116931"/>
          </a:xfrm>
          <a:prstGeom prst="roundRect">
            <a:avLst>
              <a:gd name="adj" fmla="val 5183"/>
            </a:avLst>
          </a:prstGeom>
          <a:solidFill>
            <a:srgbClr val="152025">
              <a:alpha val="95000"/>
            </a:srgbClr>
          </a:solidFill>
          <a:ln w="22860">
            <a:solidFill>
              <a:srgbClr val="6D9121"/>
            </a:solidFill>
            <a:prstDash val="solid"/>
          </a:ln>
        </p:spPr>
        <p:txBody>
          <a:bodyPr/>
          <a:lstStyle/>
          <a:p>
            <a:endParaRPr lang="en-PK"/>
          </a:p>
        </p:txBody>
      </p:sp>
      <p:sp>
        <p:nvSpPr>
          <p:cNvPr id="6" name="Shape 3"/>
          <p:cNvSpPr/>
          <p:nvPr/>
        </p:nvSpPr>
        <p:spPr>
          <a:xfrm>
            <a:off x="574953" y="2943820"/>
            <a:ext cx="91440" cy="2116931"/>
          </a:xfrm>
          <a:prstGeom prst="roundRect">
            <a:avLst>
              <a:gd name="adj" fmla="val 78467"/>
            </a:avLst>
          </a:prstGeom>
          <a:solidFill>
            <a:srgbClr val="A9F00F"/>
          </a:solidFill>
          <a:ln/>
        </p:spPr>
        <p:txBody>
          <a:bodyPr/>
          <a:lstStyle/>
          <a:p>
            <a:endParaRPr lang="en-PK"/>
          </a:p>
        </p:txBody>
      </p:sp>
      <p:sp>
        <p:nvSpPr>
          <p:cNvPr id="7" name="Text 4"/>
          <p:cNvSpPr/>
          <p:nvPr/>
        </p:nvSpPr>
        <p:spPr>
          <a:xfrm>
            <a:off x="859988" y="3137416"/>
            <a:ext cx="2238851" cy="266938"/>
          </a:xfrm>
          <a:prstGeom prst="rect">
            <a:avLst/>
          </a:prstGeom>
          <a:noFill/>
          <a:ln/>
        </p:spPr>
        <p:txBody>
          <a:bodyPr wrap="none" lIns="0" tIns="0" rIns="0" bIns="0" rtlCol="0" anchor="t"/>
          <a:lstStyle/>
          <a:p>
            <a:pPr marL="0" indent="0" algn="l">
              <a:lnSpc>
                <a:spcPts val="2100"/>
              </a:lnSpc>
              <a:buNone/>
            </a:pPr>
            <a:r>
              <a:rPr lang="en-US" sz="1650" b="1" dirty="0">
                <a:solidFill>
                  <a:srgbClr val="D7E5D8"/>
                </a:solidFill>
                <a:latin typeface="Syne Extra Bold" pitchFamily="34" charset="0"/>
                <a:ea typeface="Syne Extra Bold" pitchFamily="34" charset="-122"/>
                <a:cs typeface="Syne Extra Bold" pitchFamily="34" charset="-120"/>
              </a:rPr>
              <a:t>Bold Imagery</a:t>
            </a:r>
            <a:endParaRPr lang="en-US" sz="1650" dirty="0"/>
          </a:p>
        </p:txBody>
      </p:sp>
      <p:sp>
        <p:nvSpPr>
          <p:cNvPr id="8" name="Text 5"/>
          <p:cNvSpPr/>
          <p:nvPr/>
        </p:nvSpPr>
        <p:spPr>
          <a:xfrm>
            <a:off x="859988" y="3506748"/>
            <a:ext cx="3433048" cy="1093470"/>
          </a:xfrm>
          <a:prstGeom prst="rect">
            <a:avLst/>
          </a:prstGeom>
          <a:noFill/>
          <a:ln/>
        </p:spPr>
        <p:txBody>
          <a:bodyPr wrap="square" lIns="0" tIns="0" rIns="0" bIns="0" rtlCol="0" anchor="t"/>
          <a:lstStyle/>
          <a:p>
            <a:pPr marL="0" indent="0" algn="l">
              <a:lnSpc>
                <a:spcPts val="2150"/>
              </a:lnSpc>
              <a:buNone/>
            </a:pPr>
            <a:r>
              <a:rPr lang="en-US" sz="1300" dirty="0">
                <a:solidFill>
                  <a:srgbClr val="D7E5D8"/>
                </a:solidFill>
                <a:latin typeface="Syne" pitchFamily="34" charset="0"/>
                <a:ea typeface="Syne" pitchFamily="34" charset="-122"/>
                <a:cs typeface="Syne" pitchFamily="34" charset="-120"/>
              </a:rPr>
              <a:t>Each card features high-quality images of devices, immediately conveying the product. This visual emphasis aids recognition and decision-making.</a:t>
            </a:r>
            <a:endParaRPr lang="en-US" sz="1300" dirty="0"/>
          </a:p>
        </p:txBody>
      </p:sp>
      <p:sp>
        <p:nvSpPr>
          <p:cNvPr id="9" name="Shape 6"/>
          <p:cNvSpPr/>
          <p:nvPr/>
        </p:nvSpPr>
        <p:spPr>
          <a:xfrm>
            <a:off x="4657368" y="2943820"/>
            <a:ext cx="3888819" cy="2116931"/>
          </a:xfrm>
          <a:prstGeom prst="roundRect">
            <a:avLst>
              <a:gd name="adj" fmla="val 5183"/>
            </a:avLst>
          </a:prstGeom>
          <a:solidFill>
            <a:srgbClr val="152025">
              <a:alpha val="95000"/>
            </a:srgbClr>
          </a:solidFill>
          <a:ln w="22860">
            <a:solidFill>
              <a:srgbClr val="6D9121"/>
            </a:solidFill>
            <a:prstDash val="solid"/>
          </a:ln>
        </p:spPr>
        <p:txBody>
          <a:bodyPr/>
          <a:lstStyle/>
          <a:p>
            <a:endParaRPr lang="en-PK"/>
          </a:p>
        </p:txBody>
      </p:sp>
      <p:sp>
        <p:nvSpPr>
          <p:cNvPr id="10" name="Shape 7"/>
          <p:cNvSpPr/>
          <p:nvPr/>
        </p:nvSpPr>
        <p:spPr>
          <a:xfrm>
            <a:off x="4634508" y="2943820"/>
            <a:ext cx="91440" cy="2116931"/>
          </a:xfrm>
          <a:prstGeom prst="roundRect">
            <a:avLst>
              <a:gd name="adj" fmla="val 78467"/>
            </a:avLst>
          </a:prstGeom>
          <a:solidFill>
            <a:srgbClr val="A9F00F"/>
          </a:solidFill>
          <a:ln/>
        </p:spPr>
        <p:txBody>
          <a:bodyPr/>
          <a:lstStyle/>
          <a:p>
            <a:endParaRPr lang="en-PK"/>
          </a:p>
        </p:txBody>
      </p:sp>
      <p:sp>
        <p:nvSpPr>
          <p:cNvPr id="11" name="Text 8"/>
          <p:cNvSpPr/>
          <p:nvPr/>
        </p:nvSpPr>
        <p:spPr>
          <a:xfrm>
            <a:off x="4919543" y="3137416"/>
            <a:ext cx="3433048" cy="533876"/>
          </a:xfrm>
          <a:prstGeom prst="rect">
            <a:avLst/>
          </a:prstGeom>
          <a:noFill/>
          <a:ln/>
        </p:spPr>
        <p:txBody>
          <a:bodyPr wrap="square" lIns="0" tIns="0" rIns="0" bIns="0" rtlCol="0" anchor="t"/>
          <a:lstStyle/>
          <a:p>
            <a:pPr marL="0" indent="0" algn="l">
              <a:lnSpc>
                <a:spcPts val="2100"/>
              </a:lnSpc>
              <a:buNone/>
            </a:pPr>
            <a:r>
              <a:rPr lang="en-US" sz="1650" b="1" dirty="0">
                <a:solidFill>
                  <a:srgbClr val="D7E5D8"/>
                </a:solidFill>
                <a:latin typeface="Syne Extra Bold" pitchFamily="34" charset="0"/>
                <a:ea typeface="Syne Extra Bold" pitchFamily="34" charset="-122"/>
                <a:cs typeface="Syne Extra Bold" pitchFamily="34" charset="-120"/>
              </a:rPr>
              <a:t>Concise Information</a:t>
            </a:r>
            <a:endParaRPr lang="en-US" sz="1650" dirty="0"/>
          </a:p>
        </p:txBody>
      </p:sp>
      <p:sp>
        <p:nvSpPr>
          <p:cNvPr id="12" name="Text 9"/>
          <p:cNvSpPr/>
          <p:nvPr/>
        </p:nvSpPr>
        <p:spPr>
          <a:xfrm>
            <a:off x="4919543" y="3773686"/>
            <a:ext cx="3433048" cy="1093470"/>
          </a:xfrm>
          <a:prstGeom prst="rect">
            <a:avLst/>
          </a:prstGeom>
          <a:noFill/>
          <a:ln/>
        </p:spPr>
        <p:txBody>
          <a:bodyPr wrap="square" lIns="0" tIns="0" rIns="0" bIns="0" rtlCol="0" anchor="t"/>
          <a:lstStyle/>
          <a:p>
            <a:pPr marL="0" indent="0" algn="l">
              <a:lnSpc>
                <a:spcPts val="2150"/>
              </a:lnSpc>
              <a:buNone/>
            </a:pPr>
            <a:r>
              <a:rPr lang="en-US" sz="1300" dirty="0">
                <a:solidFill>
                  <a:srgbClr val="D7E5D8"/>
                </a:solidFill>
                <a:latin typeface="Syne" pitchFamily="34" charset="0"/>
                <a:ea typeface="Syne" pitchFamily="34" charset="-122"/>
                <a:cs typeface="Syne" pitchFamily="34" charset="-120"/>
              </a:rPr>
              <a:t>Essential details, such as brand and model, are presented clearly with minimal text, allowing for quick scanning and comprehension.</a:t>
            </a:r>
            <a:endParaRPr lang="en-US" sz="1300" dirty="0"/>
          </a:p>
        </p:txBody>
      </p:sp>
      <p:sp>
        <p:nvSpPr>
          <p:cNvPr id="13" name="Shape 10"/>
          <p:cNvSpPr/>
          <p:nvPr/>
        </p:nvSpPr>
        <p:spPr>
          <a:xfrm>
            <a:off x="597813" y="5231487"/>
            <a:ext cx="3888819" cy="2116931"/>
          </a:xfrm>
          <a:prstGeom prst="roundRect">
            <a:avLst>
              <a:gd name="adj" fmla="val 5183"/>
            </a:avLst>
          </a:prstGeom>
          <a:solidFill>
            <a:srgbClr val="152025">
              <a:alpha val="95000"/>
            </a:srgbClr>
          </a:solidFill>
          <a:ln w="22860">
            <a:solidFill>
              <a:srgbClr val="6D9121"/>
            </a:solidFill>
            <a:prstDash val="solid"/>
          </a:ln>
        </p:spPr>
        <p:txBody>
          <a:bodyPr/>
          <a:lstStyle/>
          <a:p>
            <a:endParaRPr lang="en-PK"/>
          </a:p>
        </p:txBody>
      </p:sp>
      <p:sp>
        <p:nvSpPr>
          <p:cNvPr id="14" name="Shape 11"/>
          <p:cNvSpPr/>
          <p:nvPr/>
        </p:nvSpPr>
        <p:spPr>
          <a:xfrm>
            <a:off x="574953" y="5231487"/>
            <a:ext cx="91440" cy="2116931"/>
          </a:xfrm>
          <a:prstGeom prst="roundRect">
            <a:avLst>
              <a:gd name="adj" fmla="val 78467"/>
            </a:avLst>
          </a:prstGeom>
          <a:solidFill>
            <a:srgbClr val="A9F00F"/>
          </a:solidFill>
          <a:ln/>
        </p:spPr>
        <p:txBody>
          <a:bodyPr/>
          <a:lstStyle/>
          <a:p>
            <a:endParaRPr lang="en-PK"/>
          </a:p>
        </p:txBody>
      </p:sp>
      <p:sp>
        <p:nvSpPr>
          <p:cNvPr id="15" name="Text 12"/>
          <p:cNvSpPr/>
          <p:nvPr/>
        </p:nvSpPr>
        <p:spPr>
          <a:xfrm>
            <a:off x="859988" y="5425083"/>
            <a:ext cx="3433048" cy="533876"/>
          </a:xfrm>
          <a:prstGeom prst="rect">
            <a:avLst/>
          </a:prstGeom>
          <a:noFill/>
          <a:ln/>
        </p:spPr>
        <p:txBody>
          <a:bodyPr wrap="square" lIns="0" tIns="0" rIns="0" bIns="0" rtlCol="0" anchor="t"/>
          <a:lstStyle/>
          <a:p>
            <a:pPr marL="0" indent="0" algn="l">
              <a:lnSpc>
                <a:spcPts val="2100"/>
              </a:lnSpc>
              <a:buNone/>
            </a:pPr>
            <a:r>
              <a:rPr lang="en-US" sz="1650" b="1" dirty="0">
                <a:solidFill>
                  <a:srgbClr val="D7E5D8"/>
                </a:solidFill>
                <a:latin typeface="Syne Extra Bold" pitchFamily="34" charset="0"/>
                <a:ea typeface="Syne Extra Bold" pitchFamily="34" charset="-122"/>
                <a:cs typeface="Syne Extra Bold" pitchFamily="34" charset="-120"/>
              </a:rPr>
              <a:t>Interactive Elements</a:t>
            </a:r>
            <a:endParaRPr lang="en-US" sz="1650" dirty="0"/>
          </a:p>
        </p:txBody>
      </p:sp>
      <p:sp>
        <p:nvSpPr>
          <p:cNvPr id="16" name="Text 13"/>
          <p:cNvSpPr/>
          <p:nvPr/>
        </p:nvSpPr>
        <p:spPr>
          <a:xfrm>
            <a:off x="859988" y="6061353"/>
            <a:ext cx="3433048" cy="1093470"/>
          </a:xfrm>
          <a:prstGeom prst="rect">
            <a:avLst/>
          </a:prstGeom>
          <a:noFill/>
          <a:ln/>
        </p:spPr>
        <p:txBody>
          <a:bodyPr wrap="square" lIns="0" tIns="0" rIns="0" bIns="0" rtlCol="0" anchor="t"/>
          <a:lstStyle/>
          <a:p>
            <a:pPr marL="0" indent="0" algn="l">
              <a:lnSpc>
                <a:spcPts val="2150"/>
              </a:lnSpc>
              <a:buNone/>
            </a:pPr>
            <a:r>
              <a:rPr lang="en-US" sz="1300" dirty="0">
                <a:solidFill>
                  <a:srgbClr val="D7E5D8"/>
                </a:solidFill>
                <a:latin typeface="Syne" pitchFamily="34" charset="0"/>
                <a:ea typeface="Syne" pitchFamily="34" charset="-122"/>
                <a:cs typeface="Syne" pitchFamily="34" charset="-120"/>
              </a:rPr>
              <a:t>Hover effects and subtle animations provide a dynamic touch, encouraging user interaction and enhancing the overall experience.</a:t>
            </a:r>
            <a:endParaRPr lang="en-US" sz="1300" dirty="0"/>
          </a:p>
        </p:txBody>
      </p:sp>
      <p:pic>
        <p:nvPicPr>
          <p:cNvPr id="17" name="Picture 16">
            <a:extLst>
              <a:ext uri="{FF2B5EF4-FFF2-40B4-BE49-F238E27FC236}">
                <a16:creationId xmlns:a16="http://schemas.microsoft.com/office/drawing/2014/main" id="{2A49BE03-B110-6AE7-D928-B9924559D210}"/>
              </a:ext>
            </a:extLst>
          </p:cNvPr>
          <p:cNvPicPr>
            <a:picLocks noChangeAspect="1"/>
          </p:cNvPicPr>
          <p:nvPr/>
        </p:nvPicPr>
        <p:blipFill>
          <a:blip r:embed="rId4"/>
          <a:srcRect l="731"/>
          <a:stretch>
            <a:fillRect/>
          </a:stretch>
        </p:blipFill>
        <p:spPr>
          <a:xfrm>
            <a:off x="-1" y="7917759"/>
            <a:ext cx="14786812" cy="310327"/>
          </a:xfrm>
          <a:prstGeom prst="rect">
            <a:avLst/>
          </a:prstGeom>
        </p:spPr>
      </p:pic>
      <p:sp>
        <p:nvSpPr>
          <p:cNvPr id="18" name="Shape 5">
            <a:extLst>
              <a:ext uri="{FF2B5EF4-FFF2-40B4-BE49-F238E27FC236}">
                <a16:creationId xmlns:a16="http://schemas.microsoft.com/office/drawing/2014/main" id="{92D432A3-8809-6AAA-6729-1A8BD94AF5EF}"/>
              </a:ext>
            </a:extLst>
          </p:cNvPr>
          <p:cNvSpPr/>
          <p:nvPr/>
        </p:nvSpPr>
        <p:spPr>
          <a:xfrm>
            <a:off x="8930859" y="-1514"/>
            <a:ext cx="369552" cy="7917759"/>
          </a:xfrm>
          <a:prstGeom prst="rect">
            <a:avLst/>
          </a:prstGeom>
          <a:solidFill>
            <a:srgbClr val="A9F00F"/>
          </a:solidFill>
          <a:ln/>
        </p:spPr>
        <p:txBody>
          <a:bodyPr/>
          <a:lstStyle/>
          <a:p>
            <a:endParaRPr lang="en-US" dirty="0"/>
          </a:p>
        </p:txBody>
      </p:sp>
      <p:pic>
        <p:nvPicPr>
          <p:cNvPr id="21" name="Picture 20">
            <a:extLst>
              <a:ext uri="{FF2B5EF4-FFF2-40B4-BE49-F238E27FC236}">
                <a16:creationId xmlns:a16="http://schemas.microsoft.com/office/drawing/2014/main" id="{36BEB33A-F6CF-2771-5132-8EC0D3D641C2}"/>
              </a:ext>
            </a:extLst>
          </p:cNvPr>
          <p:cNvPicPr>
            <a:picLocks noChangeAspect="1"/>
          </p:cNvPicPr>
          <p:nvPr/>
        </p:nvPicPr>
        <p:blipFill>
          <a:blip r:embed="rId5"/>
          <a:stretch>
            <a:fillRect/>
          </a:stretch>
        </p:blipFill>
        <p:spPr>
          <a:xfrm>
            <a:off x="9499877" y="315294"/>
            <a:ext cx="4931056" cy="728414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 presetClass="exit" presetSubtype="0" fill="hold" nodeType="with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5"/>
                                        </p:tgtEl>
                                        <p:attrNameLst>
                                          <p:attrName>style.visibility</p:attrName>
                                        </p:attrNameLst>
                                      </p:cBhvr>
                                      <p:to>
                                        <p:strVal val="hidden"/>
                                      </p:to>
                                    </p:set>
                                  </p:childTnLst>
                                </p:cTn>
                              </p:par>
                              <p:par>
                                <p:cTn id="14" presetID="1" presetClass="exit" presetSubtype="0" fill="hold" nodeType="withEffect">
                                  <p:stCondLst>
                                    <p:cond delay="0"/>
                                  </p:stCondLst>
                                  <p:childTnLst>
                                    <p:set>
                                      <p:cBhvr>
                                        <p:cTn id="15" dur="1" fill="hold">
                                          <p:stCondLst>
                                            <p:cond delay="0"/>
                                          </p:stCondLst>
                                        </p:cTn>
                                        <p:tgtEl>
                                          <p:spTgt spid="13"/>
                                        </p:tgtEl>
                                        <p:attrNameLst>
                                          <p:attrName>style.visibility</p:attrName>
                                        </p:attrNameLst>
                                      </p:cBhvr>
                                      <p:to>
                                        <p:strVal val="hidden"/>
                                      </p:to>
                                    </p:set>
                                  </p:childTnLst>
                                </p:cTn>
                              </p:par>
                              <p:par>
                                <p:cTn id="16" presetID="1"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18" presetID="26" presetClass="emph" presetSubtype="0" fill="hold" nodeType="withEffect">
                                  <p:stCondLst>
                                    <p:cond delay="0"/>
                                  </p:stCondLst>
                                  <p:childTnLst>
                                    <p:animEffect transition="out" filter="fade">
                                      <p:cBhvr>
                                        <p:cTn id="19" dur="500" tmFilter="0, 0; .2, .5; .8, .5; 1, 0"/>
                                        <p:tgtEl>
                                          <p:spTgt spid="21"/>
                                        </p:tgtEl>
                                      </p:cBhvr>
                                    </p:animEffect>
                                    <p:animScale>
                                      <p:cBhvr>
                                        <p:cTn id="20" dur="250" autoRev="1" fill="hold"/>
                                        <p:tgtEl>
                                          <p:spTgt spid="2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028"/>
            <a:ext cx="5486400" cy="8229600"/>
          </a:xfrm>
          <a:prstGeom prst="rect">
            <a:avLst/>
          </a:prstGeom>
        </p:spPr>
      </p:pic>
      <p:sp>
        <p:nvSpPr>
          <p:cNvPr id="3" name="Text 0"/>
          <p:cNvSpPr/>
          <p:nvPr/>
        </p:nvSpPr>
        <p:spPr>
          <a:xfrm>
            <a:off x="6151483" y="819031"/>
            <a:ext cx="7813834" cy="1187768"/>
          </a:xfrm>
          <a:prstGeom prst="rect">
            <a:avLst/>
          </a:prstGeom>
          <a:noFill/>
          <a:ln/>
        </p:spPr>
        <p:txBody>
          <a:bodyPr wrap="square" lIns="0" tIns="0" rIns="0" bIns="0" rtlCol="0" anchor="t"/>
          <a:lstStyle/>
          <a:p>
            <a:pPr marL="0" indent="0" algn="l">
              <a:lnSpc>
                <a:spcPts val="4650"/>
              </a:lnSpc>
              <a:buNone/>
            </a:pPr>
            <a:r>
              <a:rPr lang="en-US" sz="3700" b="1" dirty="0">
                <a:solidFill>
                  <a:srgbClr val="F0F4F1"/>
                </a:solidFill>
                <a:latin typeface="Syne Extra Bold" pitchFamily="34" charset="0"/>
                <a:ea typeface="Syne Extra Bold" pitchFamily="34" charset="-122"/>
                <a:cs typeface="Syne Extra Bold" pitchFamily="34" charset="-120"/>
              </a:rPr>
              <a:t>Impactful Icons &amp; Visual Elements</a:t>
            </a:r>
            <a:endParaRPr lang="en-US" sz="3700" dirty="0"/>
          </a:p>
        </p:txBody>
      </p:sp>
      <p:sp>
        <p:nvSpPr>
          <p:cNvPr id="4" name="Text 1"/>
          <p:cNvSpPr/>
          <p:nvPr/>
        </p:nvSpPr>
        <p:spPr>
          <a:xfrm>
            <a:off x="6151483" y="2291834"/>
            <a:ext cx="7813834" cy="607933"/>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Icons and supplementary visual elements are carefully chosen to communicate functionality and enhance aesthetics without clutter.</a:t>
            </a:r>
            <a:endParaRPr lang="en-US" sz="14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51483" y="3113484"/>
            <a:ext cx="570071" cy="570071"/>
          </a:xfrm>
          <a:prstGeom prst="rect">
            <a:avLst/>
          </a:prstGeom>
        </p:spPr>
      </p:pic>
      <p:sp>
        <p:nvSpPr>
          <p:cNvPr id="6" name="Text 2"/>
          <p:cNvSpPr/>
          <p:nvPr/>
        </p:nvSpPr>
        <p:spPr>
          <a:xfrm>
            <a:off x="6959084" y="3273743"/>
            <a:ext cx="4521756" cy="296823"/>
          </a:xfrm>
          <a:prstGeom prst="rect">
            <a:avLst/>
          </a:prstGeom>
          <a:noFill/>
          <a:ln/>
        </p:spPr>
        <p:txBody>
          <a:bodyPr wrap="none" lIns="0" tIns="0" rIns="0" bIns="0" rtlCol="0" anchor="t"/>
          <a:lstStyle/>
          <a:p>
            <a:pPr marL="0" indent="0" algn="l">
              <a:lnSpc>
                <a:spcPts val="2300"/>
              </a:lnSpc>
              <a:buNone/>
            </a:pPr>
            <a:r>
              <a:rPr lang="en-US" sz="1850" b="1" dirty="0">
                <a:solidFill>
                  <a:srgbClr val="D7E5D8"/>
                </a:solidFill>
                <a:latin typeface="Syne Extra Bold" pitchFamily="34" charset="0"/>
                <a:ea typeface="Syne Extra Bold" pitchFamily="34" charset="-122"/>
                <a:cs typeface="Syne Extra Bold" pitchFamily="34" charset="-120"/>
              </a:rPr>
              <a:t>Eco-Friendly Messaging</a:t>
            </a:r>
            <a:endParaRPr lang="en-US" sz="1850" dirty="0"/>
          </a:p>
        </p:txBody>
      </p:sp>
      <p:sp>
        <p:nvSpPr>
          <p:cNvPr id="7" name="Text 3"/>
          <p:cNvSpPr/>
          <p:nvPr/>
        </p:nvSpPr>
        <p:spPr>
          <a:xfrm>
            <a:off x="6959084" y="3684508"/>
            <a:ext cx="7006233" cy="607933"/>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Icons highlighting sustainability and responsible recycling efforts resonate with environmentally conscious users.</a:t>
            </a:r>
            <a:endParaRPr lang="en-US" sz="145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51483" y="4672489"/>
            <a:ext cx="570071" cy="570071"/>
          </a:xfrm>
          <a:prstGeom prst="rect">
            <a:avLst/>
          </a:prstGeom>
        </p:spPr>
      </p:pic>
      <p:sp>
        <p:nvSpPr>
          <p:cNvPr id="9" name="Text 4"/>
          <p:cNvSpPr/>
          <p:nvPr/>
        </p:nvSpPr>
        <p:spPr>
          <a:xfrm>
            <a:off x="6959084" y="4832747"/>
            <a:ext cx="2957751" cy="296823"/>
          </a:xfrm>
          <a:prstGeom prst="rect">
            <a:avLst/>
          </a:prstGeom>
          <a:noFill/>
          <a:ln/>
        </p:spPr>
        <p:txBody>
          <a:bodyPr wrap="none" lIns="0" tIns="0" rIns="0" bIns="0" rtlCol="0" anchor="t"/>
          <a:lstStyle/>
          <a:p>
            <a:pPr marL="0" indent="0" algn="l">
              <a:lnSpc>
                <a:spcPts val="2300"/>
              </a:lnSpc>
              <a:buNone/>
            </a:pPr>
            <a:r>
              <a:rPr lang="en-US" sz="1850" b="1" dirty="0">
                <a:solidFill>
                  <a:srgbClr val="D7E5D8"/>
                </a:solidFill>
                <a:latin typeface="Syne Extra Bold" pitchFamily="34" charset="0"/>
                <a:ea typeface="Syne Extra Bold" pitchFamily="34" charset="-122"/>
                <a:cs typeface="Syne Extra Bold" pitchFamily="34" charset="-120"/>
              </a:rPr>
              <a:t>Security &amp; Trust</a:t>
            </a:r>
            <a:endParaRPr lang="en-US" sz="1850" dirty="0"/>
          </a:p>
        </p:txBody>
      </p:sp>
      <p:sp>
        <p:nvSpPr>
          <p:cNvPr id="10" name="Text 5"/>
          <p:cNvSpPr/>
          <p:nvPr/>
        </p:nvSpPr>
        <p:spPr>
          <a:xfrm>
            <a:off x="6959084" y="5243513"/>
            <a:ext cx="7006233" cy="607933"/>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Clear visual indicators assure users of data security and reliable transactions, building confidence in the service.</a:t>
            </a:r>
            <a:endParaRPr lang="en-US" sz="145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51483" y="6231493"/>
            <a:ext cx="570071" cy="570071"/>
          </a:xfrm>
          <a:prstGeom prst="rect">
            <a:avLst/>
          </a:prstGeom>
        </p:spPr>
      </p:pic>
      <p:sp>
        <p:nvSpPr>
          <p:cNvPr id="12" name="Text 6"/>
          <p:cNvSpPr/>
          <p:nvPr/>
        </p:nvSpPr>
        <p:spPr>
          <a:xfrm>
            <a:off x="6959084" y="6391751"/>
            <a:ext cx="3283863" cy="296823"/>
          </a:xfrm>
          <a:prstGeom prst="rect">
            <a:avLst/>
          </a:prstGeom>
          <a:noFill/>
          <a:ln/>
        </p:spPr>
        <p:txBody>
          <a:bodyPr wrap="none" lIns="0" tIns="0" rIns="0" bIns="0" rtlCol="0" anchor="t"/>
          <a:lstStyle/>
          <a:p>
            <a:pPr marL="0" indent="0" algn="l">
              <a:lnSpc>
                <a:spcPts val="2300"/>
              </a:lnSpc>
              <a:buNone/>
            </a:pPr>
            <a:r>
              <a:rPr lang="en-US" sz="1850" b="1" dirty="0">
                <a:solidFill>
                  <a:srgbClr val="D7E5D8"/>
                </a:solidFill>
                <a:latin typeface="Syne Extra Bold" pitchFamily="34" charset="0"/>
                <a:ea typeface="Syne Extra Bold" pitchFamily="34" charset="-122"/>
                <a:cs typeface="Syne Extra Bold" pitchFamily="34" charset="-120"/>
              </a:rPr>
              <a:t>Value Proposition</a:t>
            </a:r>
            <a:endParaRPr lang="en-US" sz="1850" dirty="0"/>
          </a:p>
        </p:txBody>
      </p:sp>
      <p:sp>
        <p:nvSpPr>
          <p:cNvPr id="13" name="Text 7"/>
          <p:cNvSpPr/>
          <p:nvPr/>
        </p:nvSpPr>
        <p:spPr>
          <a:xfrm>
            <a:off x="6959084" y="6802517"/>
            <a:ext cx="7006233" cy="607933"/>
          </a:xfrm>
          <a:prstGeom prst="rect">
            <a:avLst/>
          </a:prstGeom>
          <a:noFill/>
          <a:ln/>
        </p:spPr>
        <p:txBody>
          <a:bodyPr wrap="square" lIns="0" tIns="0" rIns="0" bIns="0" rtlCol="0" anchor="t"/>
          <a:lstStyle/>
          <a:p>
            <a:pPr marL="0" indent="0" algn="l">
              <a:lnSpc>
                <a:spcPts val="2350"/>
              </a:lnSpc>
              <a:buNone/>
            </a:pPr>
            <a:r>
              <a:rPr lang="en-US" sz="1450" dirty="0">
                <a:solidFill>
                  <a:srgbClr val="D7E5D8"/>
                </a:solidFill>
                <a:latin typeface="Syne" pitchFamily="34" charset="0"/>
                <a:ea typeface="Syne" pitchFamily="34" charset="-122"/>
                <a:cs typeface="Syne" pitchFamily="34" charset="-120"/>
              </a:rPr>
              <a:t>Icons related to instant quotes and best prices reinforce the financial benefits of using Mobile Direct.</a:t>
            </a:r>
            <a:endParaRPr lang="en-US" sz="1450" dirty="0"/>
          </a:p>
        </p:txBody>
      </p:sp>
      <p:pic>
        <p:nvPicPr>
          <p:cNvPr id="14" name="Picture 13">
            <a:extLst>
              <a:ext uri="{FF2B5EF4-FFF2-40B4-BE49-F238E27FC236}">
                <a16:creationId xmlns:a16="http://schemas.microsoft.com/office/drawing/2014/main" id="{53A27464-25AC-0BC5-468E-E3B1DB9DFCC3}"/>
              </a:ext>
            </a:extLst>
          </p:cNvPr>
          <p:cNvPicPr>
            <a:picLocks noChangeAspect="1"/>
          </p:cNvPicPr>
          <p:nvPr/>
        </p:nvPicPr>
        <p:blipFill>
          <a:blip r:embed="rId10"/>
          <a:srcRect l="731"/>
          <a:stretch>
            <a:fillRect/>
          </a:stretch>
        </p:blipFill>
        <p:spPr>
          <a:xfrm>
            <a:off x="-1" y="7917759"/>
            <a:ext cx="14786812" cy="310327"/>
          </a:xfrm>
          <a:prstGeom prst="rect">
            <a:avLst/>
          </a:prstGeom>
        </p:spPr>
      </p:pic>
      <p:sp>
        <p:nvSpPr>
          <p:cNvPr id="15" name="Shape 5">
            <a:extLst>
              <a:ext uri="{FF2B5EF4-FFF2-40B4-BE49-F238E27FC236}">
                <a16:creationId xmlns:a16="http://schemas.microsoft.com/office/drawing/2014/main" id="{CD349B3A-895A-3141-F2EF-050DD37192E3}"/>
              </a:ext>
            </a:extLst>
          </p:cNvPr>
          <p:cNvSpPr/>
          <p:nvPr/>
        </p:nvSpPr>
        <p:spPr>
          <a:xfrm>
            <a:off x="5478390" y="-1514"/>
            <a:ext cx="369552" cy="7917759"/>
          </a:xfrm>
          <a:prstGeom prst="rect">
            <a:avLst/>
          </a:prstGeom>
          <a:solidFill>
            <a:srgbClr val="A9F00F"/>
          </a:solidFill>
          <a:ln/>
        </p:spPr>
        <p:txBody>
          <a:bodyPr/>
          <a:lstStyle/>
          <a:p>
            <a:endParaRPr lang="en-US" dirty="0"/>
          </a:p>
        </p:txBody>
      </p:sp>
      <p:pic>
        <p:nvPicPr>
          <p:cNvPr id="17" name="Picture 16">
            <a:extLst>
              <a:ext uri="{FF2B5EF4-FFF2-40B4-BE49-F238E27FC236}">
                <a16:creationId xmlns:a16="http://schemas.microsoft.com/office/drawing/2014/main" id="{097B7994-97C6-C795-9DCD-D0402B1C1658}"/>
              </a:ext>
            </a:extLst>
          </p:cNvPr>
          <p:cNvPicPr>
            <a:picLocks noChangeAspect="1"/>
          </p:cNvPicPr>
          <p:nvPr/>
        </p:nvPicPr>
        <p:blipFill>
          <a:blip r:embed="rId11"/>
          <a:stretch>
            <a:fillRect/>
          </a:stretch>
        </p:blipFill>
        <p:spPr>
          <a:xfrm>
            <a:off x="1730003" y="246766"/>
            <a:ext cx="2018385" cy="2207240"/>
          </a:xfrm>
          <a:prstGeom prst="rect">
            <a:avLst/>
          </a:prstGeom>
        </p:spPr>
      </p:pic>
      <p:pic>
        <p:nvPicPr>
          <p:cNvPr id="19" name="Picture 18">
            <a:extLst>
              <a:ext uri="{FF2B5EF4-FFF2-40B4-BE49-F238E27FC236}">
                <a16:creationId xmlns:a16="http://schemas.microsoft.com/office/drawing/2014/main" id="{1B2FBB51-98BC-808F-71EC-F3D0AE122750}"/>
              </a:ext>
            </a:extLst>
          </p:cNvPr>
          <p:cNvPicPr>
            <a:picLocks noChangeAspect="1"/>
          </p:cNvPicPr>
          <p:nvPr/>
        </p:nvPicPr>
        <p:blipFill>
          <a:blip r:embed="rId12"/>
          <a:stretch>
            <a:fillRect/>
          </a:stretch>
        </p:blipFill>
        <p:spPr>
          <a:xfrm>
            <a:off x="1782220" y="2818130"/>
            <a:ext cx="1913949" cy="2294285"/>
          </a:xfrm>
          <a:prstGeom prst="rect">
            <a:avLst/>
          </a:prstGeom>
        </p:spPr>
      </p:pic>
      <p:pic>
        <p:nvPicPr>
          <p:cNvPr id="21" name="Picture 20">
            <a:extLst>
              <a:ext uri="{FF2B5EF4-FFF2-40B4-BE49-F238E27FC236}">
                <a16:creationId xmlns:a16="http://schemas.microsoft.com/office/drawing/2014/main" id="{62D31166-5BED-DB1F-5A96-F444C5E98909}"/>
              </a:ext>
            </a:extLst>
          </p:cNvPr>
          <p:cNvPicPr>
            <a:picLocks noChangeAspect="1"/>
          </p:cNvPicPr>
          <p:nvPr/>
        </p:nvPicPr>
        <p:blipFill>
          <a:blip r:embed="rId13"/>
          <a:stretch>
            <a:fillRect/>
          </a:stretch>
        </p:blipFill>
        <p:spPr>
          <a:xfrm>
            <a:off x="1589783" y="5476540"/>
            <a:ext cx="2298825" cy="220724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1724" y="851654"/>
            <a:ext cx="7773352" cy="1835944"/>
          </a:xfrm>
          <a:prstGeom prst="rect">
            <a:avLst/>
          </a:prstGeom>
          <a:noFill/>
          <a:ln/>
        </p:spPr>
        <p:txBody>
          <a:bodyPr wrap="square" lIns="0" tIns="0" rIns="0" bIns="0" rtlCol="0" anchor="t"/>
          <a:lstStyle/>
          <a:p>
            <a:pPr marL="0" indent="0" algn="l">
              <a:lnSpc>
                <a:spcPts val="4800"/>
              </a:lnSpc>
              <a:buNone/>
            </a:pPr>
            <a:r>
              <a:rPr lang="en-US" sz="3850" b="1" dirty="0">
                <a:solidFill>
                  <a:srgbClr val="F0F4F1"/>
                </a:solidFill>
                <a:latin typeface="Syne Extra Bold" pitchFamily="34" charset="0"/>
                <a:ea typeface="Syne Extra Bold" pitchFamily="34" charset="-122"/>
                <a:cs typeface="Syne Extra Bold" pitchFamily="34" charset="-120"/>
              </a:rPr>
              <a:t>Clarity Through Typography and Spacing</a:t>
            </a:r>
            <a:endParaRPr lang="en-US" sz="3850" dirty="0"/>
          </a:p>
        </p:txBody>
      </p:sp>
      <p:sp>
        <p:nvSpPr>
          <p:cNvPr id="4" name="Text 1"/>
          <p:cNvSpPr/>
          <p:nvPr/>
        </p:nvSpPr>
        <p:spPr>
          <a:xfrm>
            <a:off x="6171724" y="2981325"/>
            <a:ext cx="7773352" cy="313373"/>
          </a:xfrm>
          <a:prstGeom prst="rect">
            <a:avLst/>
          </a:prstGeom>
          <a:noFill/>
          <a:ln/>
        </p:spPr>
        <p:txBody>
          <a:bodyPr wrap="none" lIns="0" tIns="0" rIns="0" bIns="0" rtlCol="0" anchor="t"/>
          <a:lstStyle/>
          <a:p>
            <a:pPr marL="0" indent="0" algn="l">
              <a:lnSpc>
                <a:spcPts val="2450"/>
              </a:lnSpc>
              <a:buNone/>
            </a:pPr>
            <a:r>
              <a:rPr lang="en-US" sz="1500" dirty="0">
                <a:solidFill>
                  <a:srgbClr val="D7E5D8"/>
                </a:solidFill>
                <a:latin typeface="Syne" pitchFamily="34" charset="0"/>
                <a:ea typeface="Syne" pitchFamily="34" charset="-122"/>
                <a:cs typeface="Syne" pitchFamily="34" charset="-120"/>
              </a:rPr>
              <a:t>Typography and spacing are paramount in creating a legible and pleasant user interface.</a:t>
            </a:r>
            <a:endParaRPr lang="en-US" sz="1500" dirty="0"/>
          </a:p>
        </p:txBody>
      </p:sp>
      <p:sp>
        <p:nvSpPr>
          <p:cNvPr id="5" name="Text 2"/>
          <p:cNvSpPr/>
          <p:nvPr/>
        </p:nvSpPr>
        <p:spPr>
          <a:xfrm>
            <a:off x="6171724" y="3710702"/>
            <a:ext cx="3647837" cy="611981"/>
          </a:xfrm>
          <a:prstGeom prst="rect">
            <a:avLst/>
          </a:prstGeom>
          <a:noFill/>
          <a:ln/>
        </p:spPr>
        <p:txBody>
          <a:bodyPr wrap="square" lIns="0" tIns="0" rIns="0" bIns="0" rtlCol="0" anchor="t"/>
          <a:lstStyle/>
          <a:p>
            <a:pPr marL="0" indent="0" algn="l">
              <a:lnSpc>
                <a:spcPts val="2400"/>
              </a:lnSpc>
              <a:buNone/>
            </a:pPr>
            <a:r>
              <a:rPr lang="en-US" sz="1900" b="1" dirty="0">
                <a:solidFill>
                  <a:srgbClr val="F0F4F1"/>
                </a:solidFill>
                <a:latin typeface="Syne Extra Bold" pitchFamily="34" charset="0"/>
                <a:ea typeface="Syne Extra Bold" pitchFamily="34" charset="-122"/>
                <a:cs typeface="Syne Extra Bold" pitchFamily="34" charset="-120"/>
              </a:rPr>
              <a:t>Strategic Font Choices</a:t>
            </a:r>
            <a:endParaRPr lang="en-US" sz="1900" dirty="0"/>
          </a:p>
        </p:txBody>
      </p:sp>
      <p:sp>
        <p:nvSpPr>
          <p:cNvPr id="6" name="Text 3"/>
          <p:cNvSpPr/>
          <p:nvPr/>
        </p:nvSpPr>
        <p:spPr>
          <a:xfrm>
            <a:off x="6171724" y="4518422"/>
            <a:ext cx="3647837" cy="1566863"/>
          </a:xfrm>
          <a:prstGeom prst="rect">
            <a:avLst/>
          </a:prstGeom>
          <a:noFill/>
          <a:ln/>
        </p:spPr>
        <p:txBody>
          <a:bodyPr wrap="square" lIns="0" tIns="0" rIns="0" bIns="0" rtlCol="0" anchor="t"/>
          <a:lstStyle/>
          <a:p>
            <a:pPr marL="0" indent="0" algn="l">
              <a:lnSpc>
                <a:spcPts val="2450"/>
              </a:lnSpc>
              <a:buNone/>
            </a:pPr>
            <a:r>
              <a:rPr lang="en-US" sz="1500" dirty="0">
                <a:solidFill>
                  <a:srgbClr val="D7E5D8"/>
                </a:solidFill>
                <a:latin typeface="Syne" pitchFamily="34" charset="0"/>
                <a:ea typeface="Syne" pitchFamily="34" charset="-122"/>
                <a:cs typeface="Syne" pitchFamily="34" charset="-120"/>
              </a:rPr>
              <a:t>A clean, Albert Sans typeface ensures readability across all screen sizes. Headers utilise a bolder weight for emphasis, while body text maintains a comfortable reading experience.</a:t>
            </a:r>
            <a:endParaRPr lang="en-US" sz="1500" dirty="0"/>
          </a:p>
        </p:txBody>
      </p:sp>
      <p:sp>
        <p:nvSpPr>
          <p:cNvPr id="7" name="Text 4"/>
          <p:cNvSpPr/>
          <p:nvPr/>
        </p:nvSpPr>
        <p:spPr>
          <a:xfrm>
            <a:off x="6171724" y="6261497"/>
            <a:ext cx="3647837" cy="940118"/>
          </a:xfrm>
          <a:prstGeom prst="rect">
            <a:avLst/>
          </a:prstGeom>
          <a:noFill/>
          <a:ln/>
        </p:spPr>
        <p:txBody>
          <a:bodyPr wrap="square" lIns="0" tIns="0" rIns="0" bIns="0" rtlCol="0" anchor="t"/>
          <a:lstStyle/>
          <a:p>
            <a:pPr marL="0" indent="0" algn="l">
              <a:lnSpc>
                <a:spcPts val="2450"/>
              </a:lnSpc>
              <a:buNone/>
            </a:pPr>
            <a:r>
              <a:rPr lang="en-US" sz="1500" dirty="0">
                <a:solidFill>
                  <a:srgbClr val="D7E5D8"/>
                </a:solidFill>
                <a:latin typeface="Syne" pitchFamily="34" charset="0"/>
                <a:ea typeface="Syne" pitchFamily="34" charset="-122"/>
                <a:cs typeface="Syne" pitchFamily="34" charset="-120"/>
              </a:rPr>
              <a:t>Neon green accents can be sparingly used on key headings or call-to-action text for visual pop.</a:t>
            </a:r>
            <a:endParaRPr lang="en-US" sz="1500" dirty="0"/>
          </a:p>
        </p:txBody>
      </p:sp>
      <p:sp>
        <p:nvSpPr>
          <p:cNvPr id="8" name="Text 5"/>
          <p:cNvSpPr/>
          <p:nvPr/>
        </p:nvSpPr>
        <p:spPr>
          <a:xfrm>
            <a:off x="10304859" y="3710702"/>
            <a:ext cx="3249097" cy="305991"/>
          </a:xfrm>
          <a:prstGeom prst="rect">
            <a:avLst/>
          </a:prstGeom>
          <a:noFill/>
          <a:ln/>
        </p:spPr>
        <p:txBody>
          <a:bodyPr wrap="none" lIns="0" tIns="0" rIns="0" bIns="0" rtlCol="0" anchor="t"/>
          <a:lstStyle/>
          <a:p>
            <a:pPr marL="0" indent="0" algn="l">
              <a:lnSpc>
                <a:spcPts val="2400"/>
              </a:lnSpc>
              <a:buNone/>
            </a:pPr>
            <a:r>
              <a:rPr lang="en-US" sz="1900" b="1" dirty="0">
                <a:solidFill>
                  <a:srgbClr val="F0F4F1"/>
                </a:solidFill>
                <a:latin typeface="Syne Extra Bold" pitchFamily="34" charset="0"/>
                <a:ea typeface="Syne Extra Bold" pitchFamily="34" charset="-122"/>
                <a:cs typeface="Syne Extra Bold" pitchFamily="34" charset="-120"/>
              </a:rPr>
              <a:t>Optimal Spacing</a:t>
            </a:r>
            <a:endParaRPr lang="en-US" sz="1900" dirty="0"/>
          </a:p>
        </p:txBody>
      </p:sp>
      <p:sp>
        <p:nvSpPr>
          <p:cNvPr id="9" name="Text 6"/>
          <p:cNvSpPr/>
          <p:nvPr/>
        </p:nvSpPr>
        <p:spPr>
          <a:xfrm>
            <a:off x="10304859" y="4212431"/>
            <a:ext cx="3647837" cy="1880235"/>
          </a:xfrm>
          <a:prstGeom prst="rect">
            <a:avLst/>
          </a:prstGeom>
          <a:noFill/>
          <a:ln/>
        </p:spPr>
        <p:txBody>
          <a:bodyPr wrap="square" lIns="0" tIns="0" rIns="0" bIns="0" rtlCol="0" anchor="t"/>
          <a:lstStyle/>
          <a:p>
            <a:pPr marL="0" indent="0" algn="l">
              <a:lnSpc>
                <a:spcPts val="2450"/>
              </a:lnSpc>
              <a:buNone/>
            </a:pPr>
            <a:r>
              <a:rPr lang="en-US" sz="1500" dirty="0">
                <a:solidFill>
                  <a:srgbClr val="D7E5D8"/>
                </a:solidFill>
                <a:latin typeface="Syne" pitchFamily="34" charset="0"/>
                <a:ea typeface="Syne" pitchFamily="34" charset="-122"/>
                <a:cs typeface="Syne" pitchFamily="34" charset="-120"/>
              </a:rPr>
              <a:t>Generous use of white space around elements reduces visual clutter, guides the eye, and creates a sense of calm and professionalism. This deliberate spacing improves content scannability and user comfort.</a:t>
            </a:r>
            <a:endParaRPr lang="en-US" sz="1500" dirty="0"/>
          </a:p>
        </p:txBody>
      </p:sp>
      <p:pic>
        <p:nvPicPr>
          <p:cNvPr id="10" name="Picture 9">
            <a:extLst>
              <a:ext uri="{FF2B5EF4-FFF2-40B4-BE49-F238E27FC236}">
                <a16:creationId xmlns:a16="http://schemas.microsoft.com/office/drawing/2014/main" id="{1EC36215-1200-992D-D509-1B4242A889D9}"/>
              </a:ext>
            </a:extLst>
          </p:cNvPr>
          <p:cNvPicPr>
            <a:picLocks noChangeAspect="1"/>
          </p:cNvPicPr>
          <p:nvPr/>
        </p:nvPicPr>
        <p:blipFill>
          <a:blip r:embed="rId4"/>
          <a:srcRect l="731"/>
          <a:stretch>
            <a:fillRect/>
          </a:stretch>
        </p:blipFill>
        <p:spPr>
          <a:xfrm>
            <a:off x="-1" y="7917759"/>
            <a:ext cx="14786812" cy="310327"/>
          </a:xfrm>
          <a:prstGeom prst="rect">
            <a:avLst/>
          </a:prstGeom>
        </p:spPr>
      </p:pic>
      <p:sp>
        <p:nvSpPr>
          <p:cNvPr id="11" name="Shape 5">
            <a:extLst>
              <a:ext uri="{FF2B5EF4-FFF2-40B4-BE49-F238E27FC236}">
                <a16:creationId xmlns:a16="http://schemas.microsoft.com/office/drawing/2014/main" id="{CF49F4FA-D587-D981-E33B-506BF0494147}"/>
              </a:ext>
            </a:extLst>
          </p:cNvPr>
          <p:cNvSpPr/>
          <p:nvPr/>
        </p:nvSpPr>
        <p:spPr>
          <a:xfrm>
            <a:off x="5459510" y="-1514"/>
            <a:ext cx="369552" cy="7917759"/>
          </a:xfrm>
          <a:prstGeom prst="rect">
            <a:avLst/>
          </a:prstGeom>
          <a:solidFill>
            <a:srgbClr val="A9F00F"/>
          </a:solidFill>
          <a:ln/>
        </p:spPr>
        <p:txBody>
          <a:bodyPr/>
          <a:lstStyle/>
          <a:p>
            <a:endParaRPr lang="en-US" dirty="0"/>
          </a:p>
        </p:txBody>
      </p:sp>
      <p:pic>
        <p:nvPicPr>
          <p:cNvPr id="13" name="Picture 12">
            <a:extLst>
              <a:ext uri="{FF2B5EF4-FFF2-40B4-BE49-F238E27FC236}">
                <a16:creationId xmlns:a16="http://schemas.microsoft.com/office/drawing/2014/main" id="{64189473-8004-7D77-F5D5-088961ACBC9C}"/>
              </a:ext>
            </a:extLst>
          </p:cNvPr>
          <p:cNvPicPr>
            <a:picLocks noChangeAspect="1"/>
          </p:cNvPicPr>
          <p:nvPr/>
        </p:nvPicPr>
        <p:blipFill>
          <a:blip r:embed="rId5"/>
          <a:stretch>
            <a:fillRect/>
          </a:stretch>
        </p:blipFill>
        <p:spPr>
          <a:xfrm>
            <a:off x="1596586" y="242105"/>
            <a:ext cx="2254366" cy="2197213"/>
          </a:xfrm>
          <a:prstGeom prst="rect">
            <a:avLst/>
          </a:prstGeom>
        </p:spPr>
      </p:pic>
      <p:pic>
        <p:nvPicPr>
          <p:cNvPr id="15" name="Picture 14">
            <a:extLst>
              <a:ext uri="{FF2B5EF4-FFF2-40B4-BE49-F238E27FC236}">
                <a16:creationId xmlns:a16="http://schemas.microsoft.com/office/drawing/2014/main" id="{60B4C5A7-CDD3-2B3F-A961-726DAA566B3B}"/>
              </a:ext>
            </a:extLst>
          </p:cNvPr>
          <p:cNvPicPr>
            <a:picLocks noChangeAspect="1"/>
          </p:cNvPicPr>
          <p:nvPr/>
        </p:nvPicPr>
        <p:blipFill>
          <a:blip r:embed="rId6"/>
          <a:stretch>
            <a:fillRect/>
          </a:stretch>
        </p:blipFill>
        <p:spPr>
          <a:xfrm>
            <a:off x="1590600" y="2873624"/>
            <a:ext cx="2260352" cy="2197214"/>
          </a:xfrm>
          <a:prstGeom prst="rect">
            <a:avLst/>
          </a:prstGeom>
        </p:spPr>
      </p:pic>
      <p:pic>
        <p:nvPicPr>
          <p:cNvPr id="17" name="Picture 16">
            <a:extLst>
              <a:ext uri="{FF2B5EF4-FFF2-40B4-BE49-F238E27FC236}">
                <a16:creationId xmlns:a16="http://schemas.microsoft.com/office/drawing/2014/main" id="{BA754494-5789-5DD4-6FA0-DFA455D6C2F7}"/>
              </a:ext>
            </a:extLst>
          </p:cNvPr>
          <p:cNvPicPr>
            <a:picLocks noChangeAspect="1"/>
          </p:cNvPicPr>
          <p:nvPr/>
        </p:nvPicPr>
        <p:blipFill>
          <a:blip r:embed="rId7"/>
          <a:stretch>
            <a:fillRect/>
          </a:stretch>
        </p:blipFill>
        <p:spPr>
          <a:xfrm>
            <a:off x="1590601" y="5505144"/>
            <a:ext cx="2260352" cy="219721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4138" y="900470"/>
            <a:ext cx="7695724" cy="1293019"/>
          </a:xfrm>
          <a:prstGeom prst="rect">
            <a:avLst/>
          </a:prstGeom>
          <a:noFill/>
          <a:ln/>
        </p:spPr>
        <p:txBody>
          <a:bodyPr wrap="square" lIns="0" tIns="0" rIns="0" bIns="0" rtlCol="0" anchor="t"/>
          <a:lstStyle/>
          <a:p>
            <a:pPr marL="0" indent="0" algn="l">
              <a:lnSpc>
                <a:spcPts val="5050"/>
              </a:lnSpc>
              <a:buNone/>
            </a:pPr>
            <a:r>
              <a:rPr lang="en-US" sz="4050" b="1" dirty="0">
                <a:solidFill>
                  <a:srgbClr val="F0F4F1"/>
                </a:solidFill>
                <a:latin typeface="Syne Extra Bold" pitchFamily="34" charset="0"/>
                <a:ea typeface="Syne Extra Bold" pitchFamily="34" charset="-122"/>
                <a:cs typeface="Syne Extra Bold" pitchFamily="34" charset="-120"/>
              </a:rPr>
              <a:t>Fluid Responsive Design</a:t>
            </a:r>
            <a:endParaRPr lang="en-US" sz="4050" dirty="0"/>
          </a:p>
        </p:txBody>
      </p:sp>
      <p:sp>
        <p:nvSpPr>
          <p:cNvPr id="4" name="Text 1"/>
          <p:cNvSpPr/>
          <p:nvPr/>
        </p:nvSpPr>
        <p:spPr>
          <a:xfrm>
            <a:off x="724138" y="2503765"/>
            <a:ext cx="7695724" cy="661988"/>
          </a:xfrm>
          <a:prstGeom prst="rect">
            <a:avLst/>
          </a:prstGeom>
          <a:noFill/>
          <a:ln/>
        </p:spPr>
        <p:txBody>
          <a:bodyPr wrap="square" lIns="0" tIns="0" rIns="0" bIns="0" rtlCol="0" anchor="t"/>
          <a:lstStyle/>
          <a:p>
            <a:pPr marL="0" indent="0" algn="l">
              <a:lnSpc>
                <a:spcPts val="2600"/>
              </a:lnSpc>
              <a:buNone/>
            </a:pPr>
            <a:r>
              <a:rPr lang="en-US" sz="1600" dirty="0">
                <a:solidFill>
                  <a:srgbClr val="D7E5D8"/>
                </a:solidFill>
                <a:latin typeface="Syne" pitchFamily="34" charset="0"/>
                <a:ea typeface="Syne" pitchFamily="34" charset="-122"/>
                <a:cs typeface="Syne" pitchFamily="34" charset="-120"/>
              </a:rPr>
              <a:t>Ensuring a consistent and high-quality selling experience for all devices is a core principle of our UI design.</a:t>
            </a:r>
            <a:endParaRPr lang="en-US" sz="1600" dirty="0"/>
          </a:p>
        </p:txBody>
      </p:sp>
      <p:pic>
        <p:nvPicPr>
          <p:cNvPr id="5" name="Image 1" descr="preencoded.png"/>
          <p:cNvPicPr>
            <a:picLocks noChangeAspect="1"/>
          </p:cNvPicPr>
          <p:nvPr/>
        </p:nvPicPr>
        <p:blipFill>
          <a:blip r:embed="rId4"/>
          <a:stretch>
            <a:fillRect/>
          </a:stretch>
        </p:blipFill>
        <p:spPr>
          <a:xfrm>
            <a:off x="724138" y="3398401"/>
            <a:ext cx="7695724" cy="3035975"/>
          </a:xfrm>
          <a:prstGeom prst="rect">
            <a:avLst/>
          </a:prstGeom>
        </p:spPr>
      </p:pic>
      <p:sp>
        <p:nvSpPr>
          <p:cNvPr id="6" name="Text 2"/>
          <p:cNvSpPr/>
          <p:nvPr/>
        </p:nvSpPr>
        <p:spPr>
          <a:xfrm>
            <a:off x="1921302" y="4449847"/>
            <a:ext cx="1530922" cy="208289"/>
          </a:xfrm>
          <a:prstGeom prst="rect">
            <a:avLst/>
          </a:prstGeom>
          <a:noFill/>
          <a:ln/>
        </p:spPr>
        <p:txBody>
          <a:bodyPr wrap="none" lIns="0" tIns="0" rIns="0" bIns="0" rtlCol="0" anchor="t"/>
          <a:lstStyle/>
          <a:p>
            <a:pPr marL="0" indent="0" algn="ctr">
              <a:lnSpc>
                <a:spcPts val="1650"/>
              </a:lnSpc>
              <a:buNone/>
            </a:pPr>
            <a:r>
              <a:rPr lang="en-US" sz="1350" b="1" dirty="0">
                <a:solidFill>
                  <a:srgbClr val="F0F4F1"/>
                </a:solidFill>
                <a:latin typeface="Syne Extra Bold" pitchFamily="34" charset="0"/>
                <a:ea typeface="Syne Extra Bold" pitchFamily="34" charset="-122"/>
                <a:cs typeface="Syne Extra Bold" pitchFamily="34" charset="-120"/>
              </a:rPr>
              <a:t>Phone</a:t>
            </a:r>
            <a:endParaRPr lang="en-US" sz="1350" dirty="0"/>
          </a:p>
        </p:txBody>
      </p:sp>
      <p:sp>
        <p:nvSpPr>
          <p:cNvPr id="7" name="Text 3"/>
          <p:cNvSpPr/>
          <p:nvPr/>
        </p:nvSpPr>
        <p:spPr>
          <a:xfrm>
            <a:off x="1921302" y="4717382"/>
            <a:ext cx="1530922" cy="499893"/>
          </a:xfrm>
          <a:prstGeom prst="rect">
            <a:avLst/>
          </a:prstGeom>
          <a:noFill/>
          <a:ln/>
        </p:spPr>
        <p:txBody>
          <a:bodyPr wrap="square" lIns="0" tIns="0" rIns="0" bIns="0" rtlCol="0" anchor="t"/>
          <a:lstStyle/>
          <a:p>
            <a:pPr marL="0" indent="0" algn="ctr">
              <a:lnSpc>
                <a:spcPts val="1350"/>
              </a:lnSpc>
              <a:buNone/>
            </a:pPr>
            <a:r>
              <a:rPr lang="en-US" sz="1050" dirty="0">
                <a:solidFill>
                  <a:srgbClr val="D7E5D8"/>
                </a:solidFill>
                <a:latin typeface="Syne" pitchFamily="34" charset="0"/>
                <a:ea typeface="Syne" pitchFamily="34" charset="-122"/>
                <a:cs typeface="Syne" pitchFamily="34" charset="-120"/>
              </a:rPr>
              <a:t>Wide layout with full navigation and multi-column content</a:t>
            </a:r>
            <a:endParaRPr lang="en-US" sz="1050" dirty="0"/>
          </a:p>
        </p:txBody>
      </p:sp>
      <p:sp>
        <p:nvSpPr>
          <p:cNvPr id="8" name="Text 4"/>
          <p:cNvSpPr/>
          <p:nvPr/>
        </p:nvSpPr>
        <p:spPr>
          <a:xfrm>
            <a:off x="3824598" y="4615320"/>
            <a:ext cx="1530922" cy="208289"/>
          </a:xfrm>
          <a:prstGeom prst="rect">
            <a:avLst/>
          </a:prstGeom>
          <a:noFill/>
          <a:ln/>
        </p:spPr>
        <p:txBody>
          <a:bodyPr wrap="none" lIns="0" tIns="0" rIns="0" bIns="0" rtlCol="0" anchor="t"/>
          <a:lstStyle/>
          <a:p>
            <a:pPr marL="0" indent="0" algn="ctr">
              <a:lnSpc>
                <a:spcPts val="1650"/>
              </a:lnSpc>
              <a:buNone/>
            </a:pPr>
            <a:r>
              <a:rPr lang="en-US" sz="1350" b="1" dirty="0">
                <a:solidFill>
                  <a:srgbClr val="F0F4F1"/>
                </a:solidFill>
                <a:latin typeface="Syne Extra Bold" pitchFamily="34" charset="0"/>
                <a:ea typeface="Syne Extra Bold" pitchFamily="34" charset="-122"/>
                <a:cs typeface="Syne Extra Bold" pitchFamily="34" charset="-120"/>
              </a:rPr>
              <a:t>Laptop</a:t>
            </a:r>
            <a:endParaRPr lang="en-US" sz="1350" dirty="0"/>
          </a:p>
        </p:txBody>
      </p:sp>
      <p:sp>
        <p:nvSpPr>
          <p:cNvPr id="9" name="Text 5"/>
          <p:cNvSpPr/>
          <p:nvPr/>
        </p:nvSpPr>
        <p:spPr>
          <a:xfrm>
            <a:off x="3824598" y="4882855"/>
            <a:ext cx="1530922" cy="499893"/>
          </a:xfrm>
          <a:prstGeom prst="rect">
            <a:avLst/>
          </a:prstGeom>
          <a:noFill/>
          <a:ln/>
        </p:spPr>
        <p:txBody>
          <a:bodyPr wrap="square" lIns="0" tIns="0" rIns="0" bIns="0" rtlCol="0" anchor="t"/>
          <a:lstStyle/>
          <a:p>
            <a:pPr marL="0" indent="0" algn="ctr">
              <a:lnSpc>
                <a:spcPts val="1350"/>
              </a:lnSpc>
              <a:buNone/>
            </a:pPr>
            <a:r>
              <a:rPr lang="en-US" sz="1050" dirty="0">
                <a:solidFill>
                  <a:srgbClr val="D7E5D8"/>
                </a:solidFill>
                <a:latin typeface="Syne" pitchFamily="34" charset="0"/>
                <a:ea typeface="Syne" pitchFamily="34" charset="-122"/>
                <a:cs typeface="Syne" pitchFamily="34" charset="-120"/>
              </a:rPr>
              <a:t>Condensed navigation and responsive content blocks</a:t>
            </a:r>
            <a:endParaRPr lang="en-US" sz="1050" dirty="0"/>
          </a:p>
        </p:txBody>
      </p:sp>
      <p:sp>
        <p:nvSpPr>
          <p:cNvPr id="10" name="Text 6"/>
          <p:cNvSpPr/>
          <p:nvPr/>
        </p:nvSpPr>
        <p:spPr>
          <a:xfrm>
            <a:off x="5750112" y="4449847"/>
            <a:ext cx="1530922" cy="208289"/>
          </a:xfrm>
          <a:prstGeom prst="rect">
            <a:avLst/>
          </a:prstGeom>
          <a:noFill/>
          <a:ln/>
        </p:spPr>
        <p:txBody>
          <a:bodyPr wrap="none" lIns="0" tIns="0" rIns="0" bIns="0" rtlCol="0" anchor="t"/>
          <a:lstStyle/>
          <a:p>
            <a:pPr marL="0" indent="0" algn="ctr">
              <a:lnSpc>
                <a:spcPts val="1650"/>
              </a:lnSpc>
              <a:buNone/>
            </a:pPr>
            <a:r>
              <a:rPr lang="en-US" sz="1350" b="1" dirty="0">
                <a:solidFill>
                  <a:srgbClr val="F0F4F1"/>
                </a:solidFill>
                <a:latin typeface="Syne Extra Bold" pitchFamily="34" charset="0"/>
                <a:ea typeface="Syne Extra Bold" pitchFamily="34" charset="-122"/>
                <a:cs typeface="Syne Extra Bold" pitchFamily="34" charset="-120"/>
              </a:rPr>
              <a:t>Console</a:t>
            </a:r>
            <a:endParaRPr lang="en-US" sz="1350" dirty="0"/>
          </a:p>
        </p:txBody>
      </p:sp>
      <p:sp>
        <p:nvSpPr>
          <p:cNvPr id="11" name="Text 7"/>
          <p:cNvSpPr/>
          <p:nvPr/>
        </p:nvSpPr>
        <p:spPr>
          <a:xfrm>
            <a:off x="5750112" y="4717382"/>
            <a:ext cx="1530922" cy="499893"/>
          </a:xfrm>
          <a:prstGeom prst="rect">
            <a:avLst/>
          </a:prstGeom>
          <a:noFill/>
          <a:ln/>
        </p:spPr>
        <p:txBody>
          <a:bodyPr wrap="square" lIns="0" tIns="0" rIns="0" bIns="0" rtlCol="0" anchor="t"/>
          <a:lstStyle/>
          <a:p>
            <a:pPr marL="0" indent="0" algn="ctr">
              <a:lnSpc>
                <a:spcPts val="1350"/>
              </a:lnSpc>
              <a:buNone/>
            </a:pPr>
            <a:r>
              <a:rPr lang="en-US" sz="1050" dirty="0">
                <a:solidFill>
                  <a:srgbClr val="D7E5D8"/>
                </a:solidFill>
                <a:latin typeface="Syne" pitchFamily="34" charset="0"/>
                <a:ea typeface="Syne" pitchFamily="34" charset="-122"/>
                <a:cs typeface="Syne" pitchFamily="34" charset="-120"/>
              </a:rPr>
              <a:t>Stacked layout with optimized navigation and touch controls</a:t>
            </a:r>
            <a:endParaRPr lang="en-US" sz="1050" dirty="0"/>
          </a:p>
        </p:txBody>
      </p:sp>
      <p:sp>
        <p:nvSpPr>
          <p:cNvPr id="12" name="Text 8"/>
          <p:cNvSpPr/>
          <p:nvPr/>
        </p:nvSpPr>
        <p:spPr>
          <a:xfrm>
            <a:off x="724138" y="6667024"/>
            <a:ext cx="7695724" cy="661988"/>
          </a:xfrm>
          <a:prstGeom prst="rect">
            <a:avLst/>
          </a:prstGeom>
          <a:noFill/>
          <a:ln/>
        </p:spPr>
        <p:txBody>
          <a:bodyPr wrap="square" lIns="0" tIns="0" rIns="0" bIns="0" rtlCol="0" anchor="t"/>
          <a:lstStyle/>
          <a:p>
            <a:pPr marL="0" indent="0" algn="l">
              <a:lnSpc>
                <a:spcPts val="2600"/>
              </a:lnSpc>
              <a:buNone/>
            </a:pPr>
            <a:r>
              <a:rPr lang="en-US" sz="1600" dirty="0">
                <a:solidFill>
                  <a:srgbClr val="D7E5D8"/>
                </a:solidFill>
                <a:latin typeface="Syne" pitchFamily="34" charset="0"/>
                <a:ea typeface="Syne" pitchFamily="34" charset="-122"/>
                <a:cs typeface="Syne" pitchFamily="34" charset="-120"/>
              </a:rPr>
              <a:t>From desktops to compact mobile phones any device can be sold with interactive elements guaranteeing optimal visual appeal regardless of the device.</a:t>
            </a:r>
            <a:endParaRPr lang="en-US" sz="1600" dirty="0"/>
          </a:p>
        </p:txBody>
      </p:sp>
      <p:pic>
        <p:nvPicPr>
          <p:cNvPr id="13" name="Picture 12">
            <a:extLst>
              <a:ext uri="{FF2B5EF4-FFF2-40B4-BE49-F238E27FC236}">
                <a16:creationId xmlns:a16="http://schemas.microsoft.com/office/drawing/2014/main" id="{A2EA35DF-6BF8-1B10-8CF6-F0AC706957EC}"/>
              </a:ext>
            </a:extLst>
          </p:cNvPr>
          <p:cNvPicPr>
            <a:picLocks noChangeAspect="1"/>
          </p:cNvPicPr>
          <p:nvPr/>
        </p:nvPicPr>
        <p:blipFill>
          <a:blip r:embed="rId5"/>
          <a:srcRect l="731"/>
          <a:stretch>
            <a:fillRect/>
          </a:stretch>
        </p:blipFill>
        <p:spPr>
          <a:xfrm>
            <a:off x="-1" y="7917759"/>
            <a:ext cx="14786812" cy="310327"/>
          </a:xfrm>
          <a:prstGeom prst="rect">
            <a:avLst/>
          </a:prstGeom>
        </p:spPr>
      </p:pic>
      <p:sp>
        <p:nvSpPr>
          <p:cNvPr id="14" name="Shape 5">
            <a:extLst>
              <a:ext uri="{FF2B5EF4-FFF2-40B4-BE49-F238E27FC236}">
                <a16:creationId xmlns:a16="http://schemas.microsoft.com/office/drawing/2014/main" id="{00164317-CECA-2BBD-4335-E2643C367514}"/>
              </a:ext>
            </a:extLst>
          </p:cNvPr>
          <p:cNvSpPr/>
          <p:nvPr/>
        </p:nvSpPr>
        <p:spPr>
          <a:xfrm>
            <a:off x="8930859" y="-1514"/>
            <a:ext cx="369552" cy="7917759"/>
          </a:xfrm>
          <a:prstGeom prst="rect">
            <a:avLst/>
          </a:prstGeom>
          <a:solidFill>
            <a:srgbClr val="A9F00F"/>
          </a:solidFill>
          <a:ln/>
        </p:spPr>
        <p:txBody>
          <a:bodyPr/>
          <a:lstStyle/>
          <a:p>
            <a:endParaRPr lang="en-US" dirty="0"/>
          </a:p>
        </p:txBody>
      </p:sp>
      <p:sp>
        <p:nvSpPr>
          <p:cNvPr id="23" name="Shape 5">
            <a:extLst>
              <a:ext uri="{FF2B5EF4-FFF2-40B4-BE49-F238E27FC236}">
                <a16:creationId xmlns:a16="http://schemas.microsoft.com/office/drawing/2014/main" id="{52AFD41F-9889-04BE-EE56-E58D40E18BFA}"/>
              </a:ext>
            </a:extLst>
          </p:cNvPr>
          <p:cNvSpPr/>
          <p:nvPr/>
        </p:nvSpPr>
        <p:spPr>
          <a:xfrm>
            <a:off x="9438856" y="779690"/>
            <a:ext cx="2196286" cy="2577583"/>
          </a:xfrm>
          <a:prstGeom prst="rect">
            <a:avLst/>
          </a:prstGeom>
          <a:solidFill>
            <a:schemeClr val="bg1"/>
          </a:solidFill>
          <a:ln/>
        </p:spPr>
        <p:txBody>
          <a:bodyPr/>
          <a:lstStyle/>
          <a:p>
            <a:endParaRPr lang="en-US" dirty="0"/>
          </a:p>
        </p:txBody>
      </p:sp>
      <p:pic>
        <p:nvPicPr>
          <p:cNvPr id="16" name="Picture 15">
            <a:extLst>
              <a:ext uri="{FF2B5EF4-FFF2-40B4-BE49-F238E27FC236}">
                <a16:creationId xmlns:a16="http://schemas.microsoft.com/office/drawing/2014/main" id="{0D5BD3FB-EEE6-F78A-0414-154ED6684878}"/>
              </a:ext>
            </a:extLst>
          </p:cNvPr>
          <p:cNvPicPr>
            <a:picLocks noChangeAspect="1"/>
          </p:cNvPicPr>
          <p:nvPr/>
        </p:nvPicPr>
        <p:blipFill>
          <a:blip r:embed="rId6"/>
          <a:stretch>
            <a:fillRect/>
          </a:stretch>
        </p:blipFill>
        <p:spPr>
          <a:xfrm>
            <a:off x="9661747" y="850422"/>
            <a:ext cx="1750504" cy="2436118"/>
          </a:xfrm>
          <a:prstGeom prst="rect">
            <a:avLst/>
          </a:prstGeom>
        </p:spPr>
      </p:pic>
      <p:sp>
        <p:nvSpPr>
          <p:cNvPr id="24" name="Shape 5">
            <a:extLst>
              <a:ext uri="{FF2B5EF4-FFF2-40B4-BE49-F238E27FC236}">
                <a16:creationId xmlns:a16="http://schemas.microsoft.com/office/drawing/2014/main" id="{E7885A52-6ACE-BAF0-E5A6-FE81A40570E4}"/>
              </a:ext>
            </a:extLst>
          </p:cNvPr>
          <p:cNvSpPr/>
          <p:nvPr/>
        </p:nvSpPr>
        <p:spPr>
          <a:xfrm>
            <a:off x="9567870" y="5729163"/>
            <a:ext cx="2508247" cy="2117863"/>
          </a:xfrm>
          <a:prstGeom prst="rect">
            <a:avLst/>
          </a:prstGeom>
          <a:solidFill>
            <a:schemeClr val="bg1"/>
          </a:solidFill>
          <a:ln/>
        </p:spPr>
        <p:txBody>
          <a:bodyPr/>
          <a:lstStyle/>
          <a:p>
            <a:endParaRPr lang="en-US" dirty="0"/>
          </a:p>
        </p:txBody>
      </p:sp>
      <p:pic>
        <p:nvPicPr>
          <p:cNvPr id="22" name="Picture 21">
            <a:extLst>
              <a:ext uri="{FF2B5EF4-FFF2-40B4-BE49-F238E27FC236}">
                <a16:creationId xmlns:a16="http://schemas.microsoft.com/office/drawing/2014/main" id="{1130A81F-5735-3921-1336-A1789C5F38EE}"/>
              </a:ext>
            </a:extLst>
          </p:cNvPr>
          <p:cNvPicPr>
            <a:picLocks noChangeAspect="1"/>
          </p:cNvPicPr>
          <p:nvPr/>
        </p:nvPicPr>
        <p:blipFill>
          <a:blip r:embed="rId7"/>
          <a:srcRect/>
          <a:stretch/>
        </p:blipFill>
        <p:spPr>
          <a:xfrm>
            <a:off x="9942612" y="5834815"/>
            <a:ext cx="1758762" cy="1906558"/>
          </a:xfrm>
          <a:prstGeom prst="rect">
            <a:avLst/>
          </a:prstGeom>
        </p:spPr>
      </p:pic>
      <p:sp>
        <p:nvSpPr>
          <p:cNvPr id="25" name="Shape 5">
            <a:extLst>
              <a:ext uri="{FF2B5EF4-FFF2-40B4-BE49-F238E27FC236}">
                <a16:creationId xmlns:a16="http://schemas.microsoft.com/office/drawing/2014/main" id="{87CB74B2-BCB6-9EB0-DCA1-E821FAEC1E3C}"/>
              </a:ext>
            </a:extLst>
          </p:cNvPr>
          <p:cNvSpPr/>
          <p:nvPr/>
        </p:nvSpPr>
        <p:spPr>
          <a:xfrm>
            <a:off x="12076117" y="2965046"/>
            <a:ext cx="2442120" cy="2417702"/>
          </a:xfrm>
          <a:prstGeom prst="rect">
            <a:avLst/>
          </a:prstGeom>
          <a:solidFill>
            <a:schemeClr val="bg1"/>
          </a:solidFill>
          <a:ln/>
        </p:spPr>
        <p:txBody>
          <a:bodyPr/>
          <a:lstStyle/>
          <a:p>
            <a:endParaRPr lang="en-US" dirty="0"/>
          </a:p>
        </p:txBody>
      </p:sp>
      <p:pic>
        <p:nvPicPr>
          <p:cNvPr id="18" name="Picture 17">
            <a:extLst>
              <a:ext uri="{FF2B5EF4-FFF2-40B4-BE49-F238E27FC236}">
                <a16:creationId xmlns:a16="http://schemas.microsoft.com/office/drawing/2014/main" id="{88CB281A-4CF0-F5F5-C8C4-9DEE7E56E9A4}"/>
              </a:ext>
            </a:extLst>
          </p:cNvPr>
          <p:cNvPicPr>
            <a:picLocks noChangeAspect="1"/>
          </p:cNvPicPr>
          <p:nvPr/>
        </p:nvPicPr>
        <p:blipFill>
          <a:blip r:embed="rId8"/>
          <a:stretch>
            <a:fillRect/>
          </a:stretch>
        </p:blipFill>
        <p:spPr>
          <a:xfrm>
            <a:off x="12383084" y="3250271"/>
            <a:ext cx="2003234" cy="1717058"/>
          </a:xfrm>
          <a:prstGeom prst="rect">
            <a:avLst/>
          </a:prstGeom>
        </p:spPr>
      </p:pic>
      <p:pic>
        <p:nvPicPr>
          <p:cNvPr id="27" name="Picture 26">
            <a:extLst>
              <a:ext uri="{FF2B5EF4-FFF2-40B4-BE49-F238E27FC236}">
                <a16:creationId xmlns:a16="http://schemas.microsoft.com/office/drawing/2014/main" id="{7A035830-8128-D303-9A0A-31F2C71E7B07}"/>
              </a:ext>
            </a:extLst>
          </p:cNvPr>
          <p:cNvPicPr>
            <a:picLocks noChangeAspect="1"/>
          </p:cNvPicPr>
          <p:nvPr/>
        </p:nvPicPr>
        <p:blipFill>
          <a:blip r:embed="rId9"/>
          <a:stretch>
            <a:fillRect/>
          </a:stretch>
        </p:blipFill>
        <p:spPr>
          <a:xfrm>
            <a:off x="9906216" y="127871"/>
            <a:ext cx="1324160" cy="523948"/>
          </a:xfrm>
          <a:prstGeom prst="rect">
            <a:avLst/>
          </a:prstGeom>
        </p:spPr>
      </p:pic>
      <p:pic>
        <p:nvPicPr>
          <p:cNvPr id="31" name="Picture 30">
            <a:extLst>
              <a:ext uri="{FF2B5EF4-FFF2-40B4-BE49-F238E27FC236}">
                <a16:creationId xmlns:a16="http://schemas.microsoft.com/office/drawing/2014/main" id="{376A3ED0-4A9B-F584-E197-9D638B9DF682}"/>
              </a:ext>
            </a:extLst>
          </p:cNvPr>
          <p:cNvPicPr>
            <a:picLocks noChangeAspect="1"/>
          </p:cNvPicPr>
          <p:nvPr/>
        </p:nvPicPr>
        <p:blipFill>
          <a:blip r:embed="rId10"/>
          <a:stretch>
            <a:fillRect/>
          </a:stretch>
        </p:blipFill>
        <p:spPr>
          <a:xfrm>
            <a:off x="12284410" y="2274731"/>
            <a:ext cx="2200582" cy="504895"/>
          </a:xfrm>
          <a:prstGeom prst="rect">
            <a:avLst/>
          </a:prstGeom>
        </p:spPr>
      </p:pic>
      <p:pic>
        <p:nvPicPr>
          <p:cNvPr id="33" name="Picture 32">
            <a:extLst>
              <a:ext uri="{FF2B5EF4-FFF2-40B4-BE49-F238E27FC236}">
                <a16:creationId xmlns:a16="http://schemas.microsoft.com/office/drawing/2014/main" id="{5966357F-02B0-853C-6895-2034C304C248}"/>
              </a:ext>
            </a:extLst>
          </p:cNvPr>
          <p:cNvPicPr>
            <a:picLocks noChangeAspect="1"/>
          </p:cNvPicPr>
          <p:nvPr/>
        </p:nvPicPr>
        <p:blipFill>
          <a:blip r:embed="rId11"/>
          <a:stretch>
            <a:fillRect/>
          </a:stretch>
        </p:blipFill>
        <p:spPr>
          <a:xfrm>
            <a:off x="9830733" y="5006968"/>
            <a:ext cx="1848108" cy="53347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26" presetClass="emph" presetSubtype="0" fill="hold" nodeType="withEffect">
                                  <p:stCondLst>
                                    <p:cond delay="0"/>
                                  </p:stCondLst>
                                  <p:childTnLst>
                                    <p:animEffect transition="out" filter="fade">
                                      <p:cBhvr>
                                        <p:cTn id="11" dur="500" tmFilter="0, 0; .2, .5; .8, .5; 1, 0"/>
                                        <p:tgtEl>
                                          <p:spTgt spid="5"/>
                                        </p:tgtEl>
                                      </p:cBhvr>
                                    </p:animEffect>
                                    <p:animScale>
                                      <p:cBhvr>
                                        <p:cTn id="12"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Image 0" descr="preencoded.png">
            <a:extLst>
              <a:ext uri="{FF2B5EF4-FFF2-40B4-BE49-F238E27FC236}">
                <a16:creationId xmlns:a16="http://schemas.microsoft.com/office/drawing/2014/main" id="{A9AE77C9-5667-7004-CFB3-E5209196D927}"/>
              </a:ext>
            </a:extLst>
          </p:cNvPr>
          <p:cNvPicPr>
            <a:picLocks noChangeAspect="1"/>
          </p:cNvPicPr>
          <p:nvPr/>
        </p:nvPicPr>
        <p:blipFill>
          <a:blip r:embed="rId2"/>
          <a:stretch>
            <a:fillRect/>
          </a:stretch>
        </p:blipFill>
        <p:spPr>
          <a:xfrm>
            <a:off x="1" y="0"/>
            <a:ext cx="5011211" cy="8229600"/>
          </a:xfrm>
          <a:prstGeom prst="rect">
            <a:avLst/>
          </a:prstGeom>
        </p:spPr>
      </p:pic>
      <p:pic>
        <p:nvPicPr>
          <p:cNvPr id="8" name="Graphic 7">
            <a:extLst>
              <a:ext uri="{FF2B5EF4-FFF2-40B4-BE49-F238E27FC236}">
                <a16:creationId xmlns:a16="http://schemas.microsoft.com/office/drawing/2014/main" id="{0AB0D2FF-169E-3C70-1915-ADB27E076E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582" y="4677932"/>
            <a:ext cx="4504852" cy="2264734"/>
          </a:xfrm>
          <a:prstGeom prst="rect">
            <a:avLst/>
          </a:prstGeom>
        </p:spPr>
      </p:pic>
      <p:pic>
        <p:nvPicPr>
          <p:cNvPr id="15" name="Image 0" descr="preencoded.png">
            <a:extLst>
              <a:ext uri="{FF2B5EF4-FFF2-40B4-BE49-F238E27FC236}">
                <a16:creationId xmlns:a16="http://schemas.microsoft.com/office/drawing/2014/main" id="{97EEB8C6-02B7-6565-2AC2-C6720305C569}"/>
              </a:ext>
            </a:extLst>
          </p:cNvPr>
          <p:cNvPicPr>
            <a:picLocks noChangeAspect="1"/>
          </p:cNvPicPr>
          <p:nvPr/>
        </p:nvPicPr>
        <p:blipFill>
          <a:blip r:embed="rId2"/>
          <a:stretch>
            <a:fillRect/>
          </a:stretch>
        </p:blipFill>
        <p:spPr>
          <a:xfrm>
            <a:off x="9630514" y="0"/>
            <a:ext cx="4999883" cy="8229600"/>
          </a:xfrm>
          <a:prstGeom prst="rect">
            <a:avLst/>
          </a:prstGeom>
        </p:spPr>
      </p:pic>
      <p:pic>
        <p:nvPicPr>
          <p:cNvPr id="14" name="Graphic 13">
            <a:extLst>
              <a:ext uri="{FF2B5EF4-FFF2-40B4-BE49-F238E27FC236}">
                <a16:creationId xmlns:a16="http://schemas.microsoft.com/office/drawing/2014/main" id="{D2ADED71-BAA6-18EF-97DA-8E18C980C6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2437" y="1680733"/>
            <a:ext cx="4512997" cy="2264734"/>
          </a:xfrm>
          <a:prstGeom prst="rect">
            <a:avLst/>
          </a:prstGeom>
        </p:spPr>
      </p:pic>
      <p:pic>
        <p:nvPicPr>
          <p:cNvPr id="6" name="Graphic 5">
            <a:extLst>
              <a:ext uri="{FF2B5EF4-FFF2-40B4-BE49-F238E27FC236}">
                <a16:creationId xmlns:a16="http://schemas.microsoft.com/office/drawing/2014/main" id="{DD723F40-F331-8C50-E71A-1554BE6DD4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12679" y="1527128"/>
            <a:ext cx="4533427" cy="2299805"/>
          </a:xfrm>
          <a:prstGeom prst="rect">
            <a:avLst/>
          </a:prstGeom>
        </p:spPr>
      </p:pic>
      <p:pic>
        <p:nvPicPr>
          <p:cNvPr id="10" name="Graphic 9">
            <a:extLst>
              <a:ext uri="{FF2B5EF4-FFF2-40B4-BE49-F238E27FC236}">
                <a16:creationId xmlns:a16="http://schemas.microsoft.com/office/drawing/2014/main" id="{AE260F2E-5A54-5B79-3392-51FB275396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56821" y="4677932"/>
            <a:ext cx="4512997" cy="2264734"/>
          </a:xfrm>
          <a:prstGeom prst="rect">
            <a:avLst/>
          </a:prstGeom>
        </p:spPr>
      </p:pic>
      <p:sp>
        <p:nvSpPr>
          <p:cNvPr id="17" name="TextBox 16">
            <a:extLst>
              <a:ext uri="{FF2B5EF4-FFF2-40B4-BE49-F238E27FC236}">
                <a16:creationId xmlns:a16="http://schemas.microsoft.com/office/drawing/2014/main" id="{92C358CE-AC3D-EC7D-E7A9-54F4838252AB}"/>
              </a:ext>
            </a:extLst>
          </p:cNvPr>
          <p:cNvSpPr txBox="1"/>
          <p:nvPr/>
        </p:nvSpPr>
        <p:spPr>
          <a:xfrm>
            <a:off x="5774793" y="2404938"/>
            <a:ext cx="3098800" cy="4545988"/>
          </a:xfrm>
          <a:prstGeom prst="rect">
            <a:avLst/>
          </a:prstGeom>
          <a:noFill/>
        </p:spPr>
        <p:txBody>
          <a:bodyPr wrap="square">
            <a:spAutoFit/>
          </a:bodyPr>
          <a:lstStyle/>
          <a:p>
            <a:pPr marL="0" indent="0" algn="ctr">
              <a:lnSpc>
                <a:spcPts val="2850"/>
              </a:lnSpc>
              <a:buNone/>
            </a:pPr>
            <a:r>
              <a:rPr lang="en-US" sz="2400" dirty="0">
                <a:solidFill>
                  <a:srgbClr val="D7E5D8"/>
                </a:solidFill>
                <a:latin typeface="Syne" pitchFamily="34" charset="0"/>
                <a:ea typeface="Syne" pitchFamily="34" charset="-122"/>
                <a:cs typeface="Syne" pitchFamily="34" charset="-120"/>
              </a:rPr>
              <a:t>Our mobile buy-back website delivers an exceptionally simple and efficient solution for selling used devices. By harmonizing automation, secure logistics, and rapid payments, we craft a superior user experience.</a:t>
            </a:r>
            <a:endParaRPr lang="en-US" sz="2400" dirty="0"/>
          </a:p>
        </p:txBody>
      </p:sp>
      <p:sp>
        <p:nvSpPr>
          <p:cNvPr id="18" name="Shape 5">
            <a:extLst>
              <a:ext uri="{FF2B5EF4-FFF2-40B4-BE49-F238E27FC236}">
                <a16:creationId xmlns:a16="http://schemas.microsoft.com/office/drawing/2014/main" id="{A7170BA1-0E68-D3B4-F01D-B239F260D0C2}"/>
              </a:ext>
            </a:extLst>
          </p:cNvPr>
          <p:cNvSpPr/>
          <p:nvPr/>
        </p:nvSpPr>
        <p:spPr>
          <a:xfrm flipV="1">
            <a:off x="9196302" y="0"/>
            <a:ext cx="434213" cy="8229600"/>
          </a:xfrm>
          <a:prstGeom prst="rect">
            <a:avLst/>
          </a:prstGeom>
          <a:solidFill>
            <a:srgbClr val="A9F00F"/>
          </a:solidFill>
          <a:ln/>
        </p:spPr>
        <p:txBody>
          <a:bodyPr/>
          <a:lstStyle/>
          <a:p>
            <a:endParaRPr lang="en-US" dirty="0"/>
          </a:p>
        </p:txBody>
      </p:sp>
      <p:sp>
        <p:nvSpPr>
          <p:cNvPr id="19" name="Shape 5">
            <a:extLst>
              <a:ext uri="{FF2B5EF4-FFF2-40B4-BE49-F238E27FC236}">
                <a16:creationId xmlns:a16="http://schemas.microsoft.com/office/drawing/2014/main" id="{1C92D9AF-BC55-B061-C960-226BCF2BC68E}"/>
              </a:ext>
            </a:extLst>
          </p:cNvPr>
          <p:cNvSpPr/>
          <p:nvPr/>
        </p:nvSpPr>
        <p:spPr>
          <a:xfrm flipV="1">
            <a:off x="5011212" y="0"/>
            <a:ext cx="434213" cy="8229600"/>
          </a:xfrm>
          <a:prstGeom prst="rect">
            <a:avLst/>
          </a:prstGeom>
          <a:solidFill>
            <a:srgbClr val="A9F00F"/>
          </a:solidFill>
          <a:ln/>
        </p:spPr>
        <p:txBody>
          <a:bodyPr/>
          <a:lstStyle/>
          <a:p>
            <a:endParaRPr lang="en-US" dirty="0"/>
          </a:p>
        </p:txBody>
      </p:sp>
      <p:sp>
        <p:nvSpPr>
          <p:cNvPr id="2" name="Text 0">
            <a:extLst>
              <a:ext uri="{FF2B5EF4-FFF2-40B4-BE49-F238E27FC236}">
                <a16:creationId xmlns:a16="http://schemas.microsoft.com/office/drawing/2014/main" id="{501869C3-8BC9-F10D-806D-077B4270EBB7}"/>
              </a:ext>
            </a:extLst>
          </p:cNvPr>
          <p:cNvSpPr/>
          <p:nvPr/>
        </p:nvSpPr>
        <p:spPr>
          <a:xfrm>
            <a:off x="4839970" y="359124"/>
            <a:ext cx="4950459" cy="919550"/>
          </a:xfrm>
          <a:prstGeom prst="rect">
            <a:avLst/>
          </a:prstGeom>
          <a:noFill/>
          <a:ln/>
        </p:spPr>
        <p:txBody>
          <a:bodyPr wrap="none" lIns="0" tIns="0" rIns="0" bIns="0" rtlCol="0" anchor="t"/>
          <a:lstStyle/>
          <a:p>
            <a:pPr marL="0" indent="0" algn="ctr">
              <a:lnSpc>
                <a:spcPts val="5550"/>
              </a:lnSpc>
              <a:buNone/>
            </a:pPr>
            <a:r>
              <a:rPr lang="en-US" sz="3200" b="1" dirty="0">
                <a:solidFill>
                  <a:srgbClr val="F0F4F1"/>
                </a:solidFill>
                <a:latin typeface="Syne Extra Bold" pitchFamily="34" charset="0"/>
              </a:rPr>
              <a:t>Some Insights</a:t>
            </a:r>
            <a:endParaRPr lang="en-US" sz="3200" dirty="0"/>
          </a:p>
        </p:txBody>
      </p:sp>
    </p:spTree>
    <p:extLst>
      <p:ext uri="{BB962C8B-B14F-4D97-AF65-F5344CB8AC3E}">
        <p14:creationId xmlns:p14="http://schemas.microsoft.com/office/powerpoint/2010/main" val="1180711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 presetClass="entr" presetSubtype="0" fill="hold" nodeType="withEffect">
                                  <p:stCondLst>
                                    <p:cond delay="0"/>
                                  </p:stCondLst>
                                  <p:childTnLst>
                                    <p:set>
                                      <p:cBhvr>
                                        <p:cTn id="11" dur="1" fill="hold">
                                          <p:stCondLst>
                                            <p:cond delay="999"/>
                                          </p:stCondLst>
                                        </p:cTn>
                                        <p:tgtEl>
                                          <p:spTgt spid="1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999"/>
                                          </p:stCondLst>
                                        </p:cTn>
                                        <p:tgtEl>
                                          <p:spTgt spid="8"/>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999"/>
                                          </p:stCondLst>
                                        </p:cTn>
                                        <p:tgtEl>
                                          <p:spTgt spid="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9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7911E1CD-F551-3EDF-91FB-796056A6387B}"/>
              </a:ext>
            </a:extLst>
          </p:cNvPr>
          <p:cNvPicPr>
            <a:picLocks noChangeAspect="1"/>
          </p:cNvPicPr>
          <p:nvPr/>
        </p:nvPicPr>
        <p:blipFill>
          <a:blip r:embed="rId2"/>
          <a:stretch>
            <a:fillRect/>
          </a:stretch>
        </p:blipFill>
        <p:spPr>
          <a:xfrm>
            <a:off x="4835047" y="0"/>
            <a:ext cx="9795354" cy="8229600"/>
          </a:xfrm>
          <a:prstGeom prst="rect">
            <a:avLst/>
          </a:prstGeom>
        </p:spPr>
      </p:pic>
      <p:sp>
        <p:nvSpPr>
          <p:cNvPr id="5" name="Shape 5">
            <a:extLst>
              <a:ext uri="{FF2B5EF4-FFF2-40B4-BE49-F238E27FC236}">
                <a16:creationId xmlns:a16="http://schemas.microsoft.com/office/drawing/2014/main" id="{7733169B-BC97-27F7-38FA-713C3A1D5E73}"/>
              </a:ext>
            </a:extLst>
          </p:cNvPr>
          <p:cNvSpPr/>
          <p:nvPr/>
        </p:nvSpPr>
        <p:spPr>
          <a:xfrm flipV="1">
            <a:off x="4400834" y="0"/>
            <a:ext cx="434213" cy="8229600"/>
          </a:xfrm>
          <a:prstGeom prst="rect">
            <a:avLst/>
          </a:prstGeom>
          <a:solidFill>
            <a:srgbClr val="A9F00F"/>
          </a:solidFill>
          <a:ln/>
        </p:spPr>
        <p:txBody>
          <a:bodyPr/>
          <a:lstStyle/>
          <a:p>
            <a:endParaRPr lang="en-US" dirty="0"/>
          </a:p>
        </p:txBody>
      </p:sp>
      <p:pic>
        <p:nvPicPr>
          <p:cNvPr id="3" name="Picture 2">
            <a:extLst>
              <a:ext uri="{FF2B5EF4-FFF2-40B4-BE49-F238E27FC236}">
                <a16:creationId xmlns:a16="http://schemas.microsoft.com/office/drawing/2014/main" id="{7F5C7600-29D2-F1FE-B693-AB6B0092C759}"/>
              </a:ext>
            </a:extLst>
          </p:cNvPr>
          <p:cNvPicPr>
            <a:picLocks noChangeAspect="1"/>
          </p:cNvPicPr>
          <p:nvPr/>
        </p:nvPicPr>
        <p:blipFill>
          <a:blip r:embed="rId3"/>
          <a:stretch>
            <a:fillRect/>
          </a:stretch>
        </p:blipFill>
        <p:spPr>
          <a:xfrm>
            <a:off x="5905944" y="289978"/>
            <a:ext cx="7878274" cy="7649643"/>
          </a:xfrm>
          <a:prstGeom prst="rect">
            <a:avLst/>
          </a:prstGeom>
        </p:spPr>
      </p:pic>
      <p:sp>
        <p:nvSpPr>
          <p:cNvPr id="6" name="Text 0">
            <a:extLst>
              <a:ext uri="{FF2B5EF4-FFF2-40B4-BE49-F238E27FC236}">
                <a16:creationId xmlns:a16="http://schemas.microsoft.com/office/drawing/2014/main" id="{17DA63EC-EF67-410D-3ECE-F62C02EC1FE8}"/>
              </a:ext>
            </a:extLst>
          </p:cNvPr>
          <p:cNvSpPr/>
          <p:nvPr/>
        </p:nvSpPr>
        <p:spPr>
          <a:xfrm>
            <a:off x="524061" y="169848"/>
            <a:ext cx="3464803" cy="742979"/>
          </a:xfrm>
          <a:prstGeom prst="rect">
            <a:avLst/>
          </a:prstGeom>
          <a:noFill/>
          <a:ln/>
        </p:spPr>
        <p:txBody>
          <a:bodyPr wrap="square" lIns="0" tIns="0" rIns="0" bIns="0" rtlCol="0" anchor="t"/>
          <a:lstStyle/>
          <a:p>
            <a:pPr marL="0" indent="0" algn="ctr">
              <a:lnSpc>
                <a:spcPts val="5050"/>
              </a:lnSpc>
              <a:buNone/>
            </a:pPr>
            <a:r>
              <a:rPr lang="en-US" sz="2000" b="1" dirty="0">
                <a:solidFill>
                  <a:srgbClr val="F0F4F1"/>
                </a:solidFill>
                <a:latin typeface="Syne Extra Bold" pitchFamily="34" charset="0"/>
              </a:rPr>
              <a:t>The LinkedIn Post</a:t>
            </a:r>
            <a:endParaRPr lang="en-US" sz="2000" dirty="0"/>
          </a:p>
        </p:txBody>
      </p:sp>
      <p:sp>
        <p:nvSpPr>
          <p:cNvPr id="7" name="TextBox 6">
            <a:extLst>
              <a:ext uri="{FF2B5EF4-FFF2-40B4-BE49-F238E27FC236}">
                <a16:creationId xmlns:a16="http://schemas.microsoft.com/office/drawing/2014/main" id="{474011E4-0F7A-3B5A-CF91-6FEA7004D821}"/>
              </a:ext>
            </a:extLst>
          </p:cNvPr>
          <p:cNvSpPr txBox="1"/>
          <p:nvPr/>
        </p:nvSpPr>
        <p:spPr>
          <a:xfrm>
            <a:off x="722296" y="1073182"/>
            <a:ext cx="3098800" cy="6742872"/>
          </a:xfrm>
          <a:prstGeom prst="rect">
            <a:avLst/>
          </a:prstGeom>
          <a:noFill/>
        </p:spPr>
        <p:txBody>
          <a:bodyPr wrap="square">
            <a:spAutoFit/>
          </a:bodyPr>
          <a:lstStyle/>
          <a:p>
            <a:pPr algn="ctr">
              <a:lnSpc>
                <a:spcPts val="2850"/>
              </a:lnSpc>
            </a:pPr>
            <a:r>
              <a:rPr lang="en-US" sz="1400" dirty="0">
                <a:solidFill>
                  <a:schemeClr val="bg1"/>
                </a:solidFill>
                <a:latin typeface="Syne" pitchFamily="2" charset="0"/>
              </a:rPr>
              <a:t>The successful completion of this project was made possible through effective teamwork and clear role distribution. Each member contributed across areas such as website development, video creation, presentations, and data analysis. The project also provided valuable hands-on experience with tools like </a:t>
            </a:r>
            <a:r>
              <a:rPr lang="en-US" sz="1400" b="1" dirty="0">
                <a:solidFill>
                  <a:schemeClr val="bg1"/>
                </a:solidFill>
                <a:latin typeface="Syne" pitchFamily="2" charset="0"/>
              </a:rPr>
              <a:t>GitHub, MS Word, Excel, and PowerPoint</a:t>
            </a:r>
            <a:r>
              <a:rPr lang="en-US" sz="1400" dirty="0">
                <a:solidFill>
                  <a:schemeClr val="bg1"/>
                </a:solidFill>
                <a:latin typeface="Syne" pitchFamily="2" charset="0"/>
              </a:rPr>
              <a:t>, strengthening technical skills, problem-solving ability, and collaborative development practices. Overall, the project served as a meaningful learning experience and contributed significantly to technical and professional growth.</a:t>
            </a:r>
          </a:p>
        </p:txBody>
      </p:sp>
    </p:spTree>
    <p:extLst>
      <p:ext uri="{BB962C8B-B14F-4D97-AF65-F5344CB8AC3E}">
        <p14:creationId xmlns:p14="http://schemas.microsoft.com/office/powerpoint/2010/main" val="36551195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3" name="Text 0"/>
          <p:cNvSpPr/>
          <p:nvPr/>
        </p:nvSpPr>
        <p:spPr>
          <a:xfrm>
            <a:off x="791986" y="3942398"/>
            <a:ext cx="12955310" cy="1280160"/>
          </a:xfrm>
          <a:prstGeom prst="rect">
            <a:avLst/>
          </a:prstGeom>
          <a:noFill/>
          <a:ln/>
        </p:spPr>
        <p:txBody>
          <a:bodyPr wrap="square" lIns="0" tIns="0" rIns="0" bIns="0" rtlCol="0" anchor="t"/>
          <a:lstStyle/>
          <a:p>
            <a:pPr marL="0" indent="0" algn="l">
              <a:lnSpc>
                <a:spcPts val="5000"/>
              </a:lnSpc>
              <a:buNone/>
            </a:pPr>
            <a:r>
              <a:rPr lang="en-US" sz="4000" b="1" dirty="0">
                <a:solidFill>
                  <a:srgbClr val="F0F4F1"/>
                </a:solidFill>
                <a:latin typeface="Syne Extra Bold" pitchFamily="34" charset="0"/>
                <a:ea typeface="Syne Extra Bold" pitchFamily="34" charset="-122"/>
                <a:cs typeface="Syne Extra Bold" pitchFamily="34" charset="-120"/>
              </a:rPr>
              <a:t>Final UI Summary: A Unified Vision</a:t>
            </a:r>
            <a:endParaRPr lang="en-US" sz="4000" dirty="0"/>
          </a:p>
        </p:txBody>
      </p:sp>
      <p:sp>
        <p:nvSpPr>
          <p:cNvPr id="4" name="Text 1"/>
          <p:cNvSpPr/>
          <p:nvPr/>
        </p:nvSpPr>
        <p:spPr>
          <a:xfrm>
            <a:off x="837486" y="4710827"/>
            <a:ext cx="12955310" cy="327660"/>
          </a:xfrm>
          <a:prstGeom prst="rect">
            <a:avLst/>
          </a:prstGeom>
          <a:noFill/>
          <a:ln/>
        </p:spPr>
        <p:txBody>
          <a:bodyPr wrap="none" lIns="0" tIns="0" rIns="0" bIns="0" rtlCol="0" anchor="t"/>
          <a:lstStyle/>
          <a:p>
            <a:pPr marL="0" indent="0" algn="l">
              <a:lnSpc>
                <a:spcPts val="2550"/>
              </a:lnSpc>
              <a:buNone/>
            </a:pPr>
            <a:r>
              <a:rPr lang="en-US" sz="1600" dirty="0">
                <a:solidFill>
                  <a:srgbClr val="D7E5D8"/>
                </a:solidFill>
                <a:latin typeface="Syne" pitchFamily="34" charset="0"/>
                <a:ea typeface="Syne" pitchFamily="34" charset="-122"/>
                <a:cs typeface="Syne" pitchFamily="34" charset="-120"/>
              </a:rPr>
              <a:t>Our UI/UX design culminates in a sophisticated, user-centric platform that prioritises clarity, engagement, and efficiency.</a:t>
            </a:r>
            <a:endParaRPr lang="en-US" sz="1600" dirty="0"/>
          </a:p>
        </p:txBody>
      </p:sp>
      <p:sp>
        <p:nvSpPr>
          <p:cNvPr id="5" name="Shape 2"/>
          <p:cNvSpPr/>
          <p:nvPr/>
        </p:nvSpPr>
        <p:spPr>
          <a:xfrm>
            <a:off x="837486" y="5268873"/>
            <a:ext cx="12955310" cy="1842849"/>
          </a:xfrm>
          <a:prstGeom prst="roundRect">
            <a:avLst>
              <a:gd name="adj" fmla="val 4668"/>
            </a:avLst>
          </a:prstGeom>
          <a:solidFill>
            <a:srgbClr val="547808"/>
          </a:solidFill>
          <a:ln w="7620">
            <a:solidFill>
              <a:srgbClr val="6D9121"/>
            </a:solidFill>
            <a:prstDash val="solid"/>
          </a:ln>
        </p:spPr>
        <p:txBody>
          <a:bodyPr/>
          <a:lstStyle/>
          <a:p>
            <a:endParaRPr lang="en-PK"/>
          </a:p>
        </p:txBody>
      </p:sp>
      <p:sp>
        <p:nvSpPr>
          <p:cNvPr id="6" name="Shape 3"/>
          <p:cNvSpPr/>
          <p:nvPr/>
        </p:nvSpPr>
        <p:spPr>
          <a:xfrm>
            <a:off x="845106" y="5276493"/>
            <a:ext cx="4313277" cy="1827609"/>
          </a:xfrm>
          <a:prstGeom prst="roundRect">
            <a:avLst>
              <a:gd name="adj" fmla="val 4707"/>
            </a:avLst>
          </a:prstGeom>
          <a:solidFill>
            <a:srgbClr val="A9F00F"/>
          </a:solidFill>
          <a:ln/>
        </p:spPr>
        <p:txBody>
          <a:bodyPr/>
          <a:lstStyle/>
          <a:p>
            <a:endParaRPr lang="en-PK"/>
          </a:p>
        </p:txBody>
      </p:sp>
      <p:sp>
        <p:nvSpPr>
          <p:cNvPr id="9" name="Shape 6"/>
          <p:cNvSpPr/>
          <p:nvPr/>
        </p:nvSpPr>
        <p:spPr>
          <a:xfrm>
            <a:off x="5158383" y="5276493"/>
            <a:ext cx="4313396" cy="1827609"/>
          </a:xfrm>
          <a:prstGeom prst="rect">
            <a:avLst/>
          </a:prstGeom>
          <a:solidFill>
            <a:srgbClr val="A9F00F"/>
          </a:solidFill>
          <a:ln/>
        </p:spPr>
        <p:txBody>
          <a:bodyPr/>
          <a:lstStyle/>
          <a:p>
            <a:endParaRPr lang="en-PK"/>
          </a:p>
        </p:txBody>
      </p:sp>
      <p:sp>
        <p:nvSpPr>
          <p:cNvPr id="10" name="Shape 7"/>
          <p:cNvSpPr/>
          <p:nvPr/>
        </p:nvSpPr>
        <p:spPr>
          <a:xfrm>
            <a:off x="5158383" y="5276493"/>
            <a:ext cx="22860" cy="1827609"/>
          </a:xfrm>
          <a:prstGeom prst="roundRect">
            <a:avLst>
              <a:gd name="adj" fmla="val 376324"/>
            </a:avLst>
          </a:prstGeom>
          <a:solidFill>
            <a:srgbClr val="8FD600"/>
          </a:solidFill>
          <a:ln/>
        </p:spPr>
        <p:txBody>
          <a:bodyPr/>
          <a:lstStyle/>
          <a:p>
            <a:endParaRPr lang="en-PK"/>
          </a:p>
        </p:txBody>
      </p:sp>
      <p:sp>
        <p:nvSpPr>
          <p:cNvPr id="13" name="Shape 10"/>
          <p:cNvSpPr/>
          <p:nvPr/>
        </p:nvSpPr>
        <p:spPr>
          <a:xfrm>
            <a:off x="9471779" y="5276493"/>
            <a:ext cx="4313277" cy="1827609"/>
          </a:xfrm>
          <a:prstGeom prst="rect">
            <a:avLst/>
          </a:prstGeom>
          <a:solidFill>
            <a:srgbClr val="A9F00F"/>
          </a:solidFill>
          <a:ln/>
        </p:spPr>
        <p:txBody>
          <a:bodyPr/>
          <a:lstStyle/>
          <a:p>
            <a:endParaRPr lang="en-US" dirty="0"/>
          </a:p>
        </p:txBody>
      </p:sp>
      <p:sp>
        <p:nvSpPr>
          <p:cNvPr id="14" name="Shape 11"/>
          <p:cNvSpPr/>
          <p:nvPr/>
        </p:nvSpPr>
        <p:spPr>
          <a:xfrm>
            <a:off x="9471779" y="5276493"/>
            <a:ext cx="22860" cy="1827609"/>
          </a:xfrm>
          <a:prstGeom prst="roundRect">
            <a:avLst>
              <a:gd name="adj" fmla="val 376324"/>
            </a:avLst>
          </a:prstGeom>
          <a:solidFill>
            <a:srgbClr val="8FD600"/>
          </a:solidFill>
          <a:ln/>
        </p:spPr>
        <p:txBody>
          <a:bodyPr/>
          <a:lstStyle/>
          <a:p>
            <a:endParaRPr lang="en-PK"/>
          </a:p>
        </p:txBody>
      </p:sp>
      <p:grpSp>
        <p:nvGrpSpPr>
          <p:cNvPr id="22" name="Group 21">
            <a:extLst>
              <a:ext uri="{FF2B5EF4-FFF2-40B4-BE49-F238E27FC236}">
                <a16:creationId xmlns:a16="http://schemas.microsoft.com/office/drawing/2014/main" id="{6A99C62B-20B6-91E9-7EF0-2D2A60B0DBAB}"/>
              </a:ext>
            </a:extLst>
          </p:cNvPr>
          <p:cNvGrpSpPr/>
          <p:nvPr/>
        </p:nvGrpSpPr>
        <p:grpSpPr>
          <a:xfrm>
            <a:off x="1049893" y="5481280"/>
            <a:ext cx="12530376" cy="1418035"/>
            <a:chOff x="1049893" y="5481280"/>
            <a:chExt cx="12530376" cy="1418035"/>
          </a:xfrm>
        </p:grpSpPr>
        <p:sp>
          <p:nvSpPr>
            <p:cNvPr id="7" name="Text 4"/>
            <p:cNvSpPr/>
            <p:nvPr/>
          </p:nvSpPr>
          <p:spPr>
            <a:xfrm>
              <a:off x="1049893" y="5481280"/>
              <a:ext cx="3903702" cy="639842"/>
            </a:xfrm>
            <a:prstGeom prst="rect">
              <a:avLst/>
            </a:prstGeom>
            <a:noFill/>
            <a:ln/>
          </p:spPr>
          <p:txBody>
            <a:bodyPr wrap="square" lIns="0" tIns="0" rIns="0" bIns="0" rtlCol="0" anchor="t"/>
            <a:lstStyle/>
            <a:p>
              <a:pPr marL="0" indent="0" algn="l">
                <a:lnSpc>
                  <a:spcPts val="2500"/>
                </a:lnSpc>
                <a:buNone/>
              </a:pPr>
              <a:r>
                <a:rPr lang="en-US" sz="2000" b="1" dirty="0">
                  <a:solidFill>
                    <a:srgbClr val="000000"/>
                  </a:solidFill>
                  <a:latin typeface="Syne Extra Bold" pitchFamily="34" charset="0"/>
                  <a:ea typeface="Syne Extra Bold" pitchFamily="34" charset="-122"/>
                  <a:cs typeface="Syne Extra Bold" pitchFamily="34" charset="-120"/>
                </a:rPr>
                <a:t>Intuitive Interactions</a:t>
              </a:r>
              <a:endParaRPr lang="en-US" sz="2000" dirty="0"/>
            </a:p>
          </p:txBody>
        </p:sp>
        <p:sp>
          <p:nvSpPr>
            <p:cNvPr id="8" name="Text 5"/>
            <p:cNvSpPr/>
            <p:nvPr/>
          </p:nvSpPr>
          <p:spPr>
            <a:xfrm>
              <a:off x="1049893" y="6243995"/>
              <a:ext cx="3903702" cy="655320"/>
            </a:xfrm>
            <a:prstGeom prst="rect">
              <a:avLst/>
            </a:prstGeom>
            <a:noFill/>
            <a:ln/>
          </p:spPr>
          <p:txBody>
            <a:bodyPr wrap="square" lIns="0" tIns="0" rIns="0" bIns="0" rtlCol="0" anchor="t"/>
            <a:lstStyle/>
            <a:p>
              <a:pPr marL="0" indent="0" algn="l">
                <a:lnSpc>
                  <a:spcPts val="2550"/>
                </a:lnSpc>
                <a:buNone/>
              </a:pPr>
              <a:r>
                <a:rPr lang="en-US" sz="1600" dirty="0">
                  <a:solidFill>
                    <a:srgbClr val="000000"/>
                  </a:solidFill>
                  <a:latin typeface="Syne" pitchFamily="34" charset="0"/>
                  <a:ea typeface="Syne" pitchFamily="34" charset="-122"/>
                  <a:cs typeface="Syne" pitchFamily="34" charset="-120"/>
                </a:rPr>
                <a:t>Every click and swipe is designed to be purposeful and frictionless.</a:t>
              </a:r>
              <a:endParaRPr lang="en-US" sz="1600" dirty="0"/>
            </a:p>
          </p:txBody>
        </p:sp>
        <p:sp>
          <p:nvSpPr>
            <p:cNvPr id="11" name="Text 8"/>
            <p:cNvSpPr/>
            <p:nvPr/>
          </p:nvSpPr>
          <p:spPr>
            <a:xfrm>
              <a:off x="5363170" y="5481280"/>
              <a:ext cx="3141226" cy="319921"/>
            </a:xfrm>
            <a:prstGeom prst="rect">
              <a:avLst/>
            </a:prstGeom>
            <a:noFill/>
            <a:ln/>
          </p:spPr>
          <p:txBody>
            <a:bodyPr wrap="none" lIns="0" tIns="0" rIns="0" bIns="0" rtlCol="0" anchor="t"/>
            <a:lstStyle/>
            <a:p>
              <a:pPr marL="0" indent="0" algn="l">
                <a:lnSpc>
                  <a:spcPts val="2500"/>
                </a:lnSpc>
                <a:buNone/>
              </a:pPr>
              <a:r>
                <a:rPr lang="en-US" sz="2000" b="1" dirty="0">
                  <a:solidFill>
                    <a:srgbClr val="000000"/>
                  </a:solidFill>
                  <a:latin typeface="Syne Extra Bold" pitchFamily="34" charset="0"/>
                  <a:ea typeface="Syne Extra Bold" pitchFamily="34" charset="-122"/>
                  <a:cs typeface="Syne Extra Bold" pitchFamily="34" charset="-120"/>
                </a:rPr>
                <a:t>Visually Striking</a:t>
              </a:r>
              <a:endParaRPr lang="en-US" sz="2000" dirty="0"/>
            </a:p>
          </p:txBody>
        </p:sp>
        <p:sp>
          <p:nvSpPr>
            <p:cNvPr id="12" name="Text 9"/>
            <p:cNvSpPr/>
            <p:nvPr/>
          </p:nvSpPr>
          <p:spPr>
            <a:xfrm>
              <a:off x="5363170" y="5924074"/>
              <a:ext cx="3903821" cy="655320"/>
            </a:xfrm>
            <a:prstGeom prst="rect">
              <a:avLst/>
            </a:prstGeom>
            <a:noFill/>
            <a:ln/>
          </p:spPr>
          <p:txBody>
            <a:bodyPr wrap="square" lIns="0" tIns="0" rIns="0" bIns="0" rtlCol="0" anchor="t"/>
            <a:lstStyle/>
            <a:p>
              <a:pPr marL="0" indent="0" algn="l">
                <a:lnSpc>
                  <a:spcPts val="2550"/>
                </a:lnSpc>
                <a:buNone/>
              </a:pPr>
              <a:r>
                <a:rPr lang="en-US" sz="1600" dirty="0">
                  <a:solidFill>
                    <a:srgbClr val="000000"/>
                  </a:solidFill>
                  <a:latin typeface="Syne" pitchFamily="34" charset="0"/>
                  <a:ea typeface="Syne" pitchFamily="34" charset="-122"/>
                  <a:cs typeface="Syne" pitchFamily="34" charset="-120"/>
                </a:rPr>
                <a:t>A modern aesthetic with vibrant accents captures attention.</a:t>
              </a:r>
              <a:endParaRPr lang="en-US" sz="1600" dirty="0"/>
            </a:p>
          </p:txBody>
        </p:sp>
        <p:sp>
          <p:nvSpPr>
            <p:cNvPr id="15" name="Text 12"/>
            <p:cNvSpPr/>
            <p:nvPr/>
          </p:nvSpPr>
          <p:spPr>
            <a:xfrm>
              <a:off x="9676567" y="5481280"/>
              <a:ext cx="3903702" cy="639842"/>
            </a:xfrm>
            <a:prstGeom prst="rect">
              <a:avLst/>
            </a:prstGeom>
            <a:noFill/>
            <a:ln/>
          </p:spPr>
          <p:txBody>
            <a:bodyPr wrap="square" lIns="0" tIns="0" rIns="0" bIns="0" rtlCol="0" anchor="t"/>
            <a:lstStyle/>
            <a:p>
              <a:pPr marL="0" indent="0" algn="l">
                <a:lnSpc>
                  <a:spcPts val="2500"/>
                </a:lnSpc>
                <a:buNone/>
              </a:pPr>
              <a:r>
                <a:rPr lang="en-US" sz="2000" b="1" dirty="0">
                  <a:solidFill>
                    <a:srgbClr val="000000"/>
                  </a:solidFill>
                  <a:latin typeface="Syne Extra Bold" pitchFamily="34" charset="0"/>
                  <a:ea typeface="Syne Extra Bold" pitchFamily="34" charset="-122"/>
                  <a:cs typeface="Syne Extra Bold" pitchFamily="34" charset="-120"/>
                </a:rPr>
                <a:t>Performance-Driven</a:t>
              </a:r>
              <a:endParaRPr lang="en-US" sz="2000" dirty="0"/>
            </a:p>
          </p:txBody>
        </p:sp>
        <p:sp>
          <p:nvSpPr>
            <p:cNvPr id="16" name="Text 13"/>
            <p:cNvSpPr/>
            <p:nvPr/>
          </p:nvSpPr>
          <p:spPr>
            <a:xfrm>
              <a:off x="9676567" y="6243995"/>
              <a:ext cx="3903702" cy="327660"/>
            </a:xfrm>
            <a:prstGeom prst="rect">
              <a:avLst/>
            </a:prstGeom>
            <a:noFill/>
            <a:ln/>
          </p:spPr>
          <p:txBody>
            <a:bodyPr wrap="none" lIns="0" tIns="0" rIns="0" bIns="0" rtlCol="0" anchor="t"/>
            <a:lstStyle/>
            <a:p>
              <a:pPr marL="0" indent="0" algn="l">
                <a:lnSpc>
                  <a:spcPts val="2550"/>
                </a:lnSpc>
                <a:buNone/>
              </a:pPr>
              <a:r>
                <a:rPr lang="en-US" sz="1600" dirty="0">
                  <a:solidFill>
                    <a:srgbClr val="000000"/>
                  </a:solidFill>
                  <a:latin typeface="Syne" pitchFamily="34" charset="0"/>
                  <a:ea typeface="Syne" pitchFamily="34" charset="-122"/>
                  <a:cs typeface="Syne" pitchFamily="34" charset="-120"/>
                </a:rPr>
                <a:t>Optimised for speed and responsiveness.</a:t>
              </a:r>
              <a:endParaRPr lang="en-US" sz="1600" dirty="0"/>
            </a:p>
          </p:txBody>
        </p:sp>
      </p:grpSp>
      <p:sp>
        <p:nvSpPr>
          <p:cNvPr id="17" name="Text 14"/>
          <p:cNvSpPr/>
          <p:nvPr/>
        </p:nvSpPr>
        <p:spPr>
          <a:xfrm>
            <a:off x="837486" y="7342108"/>
            <a:ext cx="12955310" cy="327660"/>
          </a:xfrm>
          <a:prstGeom prst="rect">
            <a:avLst/>
          </a:prstGeom>
          <a:noFill/>
          <a:ln/>
        </p:spPr>
        <p:txBody>
          <a:bodyPr wrap="none" lIns="0" tIns="0" rIns="0" bIns="0" rtlCol="0" anchor="t"/>
          <a:lstStyle/>
          <a:p>
            <a:pPr marL="0" indent="0" algn="l">
              <a:lnSpc>
                <a:spcPts val="2550"/>
              </a:lnSpc>
              <a:buNone/>
            </a:pPr>
            <a:r>
              <a:rPr lang="en-US" sz="1600" dirty="0">
                <a:solidFill>
                  <a:srgbClr val="D7E5D8"/>
                </a:solidFill>
                <a:latin typeface="Syne" pitchFamily="34" charset="0"/>
                <a:ea typeface="Syne" pitchFamily="34" charset="-122"/>
                <a:cs typeface="Syne" pitchFamily="34" charset="-120"/>
              </a:rPr>
              <a:t>This design not only meets but anticipates user needs, creating a delightful and efficient trade-in journey.</a:t>
            </a:r>
            <a:endParaRPr lang="en-US" sz="1600" dirty="0"/>
          </a:p>
        </p:txBody>
      </p:sp>
      <p:pic>
        <p:nvPicPr>
          <p:cNvPr id="18" name="Picture 17">
            <a:extLst>
              <a:ext uri="{FF2B5EF4-FFF2-40B4-BE49-F238E27FC236}">
                <a16:creationId xmlns:a16="http://schemas.microsoft.com/office/drawing/2014/main" id="{DC6A39E7-907B-5A77-58B3-2781C67967C6}"/>
              </a:ext>
            </a:extLst>
          </p:cNvPr>
          <p:cNvPicPr>
            <a:picLocks noChangeAspect="1"/>
          </p:cNvPicPr>
          <p:nvPr/>
        </p:nvPicPr>
        <p:blipFill>
          <a:blip r:embed="rId3"/>
          <a:srcRect l="731"/>
          <a:stretch>
            <a:fillRect/>
          </a:stretch>
        </p:blipFill>
        <p:spPr>
          <a:xfrm>
            <a:off x="-1" y="7917759"/>
            <a:ext cx="14786812" cy="310327"/>
          </a:xfrm>
          <a:prstGeom prst="rect">
            <a:avLst/>
          </a:prstGeom>
        </p:spPr>
      </p:pic>
      <p:pic>
        <p:nvPicPr>
          <p:cNvPr id="20" name="Picture 19">
            <a:extLst>
              <a:ext uri="{FF2B5EF4-FFF2-40B4-BE49-F238E27FC236}">
                <a16:creationId xmlns:a16="http://schemas.microsoft.com/office/drawing/2014/main" id="{21CD00F5-064C-F9CE-B90A-61550E7A721D}"/>
              </a:ext>
            </a:extLst>
          </p:cNvPr>
          <p:cNvPicPr>
            <a:picLocks noChangeAspect="1"/>
          </p:cNvPicPr>
          <p:nvPr/>
        </p:nvPicPr>
        <p:blipFill>
          <a:blip r:embed="rId4"/>
          <a:stretch>
            <a:fillRect/>
          </a:stretch>
        </p:blipFill>
        <p:spPr>
          <a:xfrm>
            <a:off x="-2" y="48200"/>
            <a:ext cx="14630401" cy="2912527"/>
          </a:xfrm>
          <a:prstGeom prst="rect">
            <a:avLst/>
          </a:prstGeom>
        </p:spPr>
      </p:pic>
      <p:sp>
        <p:nvSpPr>
          <p:cNvPr id="21" name="Shape 5">
            <a:extLst>
              <a:ext uri="{FF2B5EF4-FFF2-40B4-BE49-F238E27FC236}">
                <a16:creationId xmlns:a16="http://schemas.microsoft.com/office/drawing/2014/main" id="{F58CE744-3847-464C-8E42-4E554F70D54D}"/>
              </a:ext>
            </a:extLst>
          </p:cNvPr>
          <p:cNvSpPr/>
          <p:nvPr/>
        </p:nvSpPr>
        <p:spPr>
          <a:xfrm>
            <a:off x="-121" y="2968348"/>
            <a:ext cx="14630401" cy="197166"/>
          </a:xfrm>
          <a:prstGeom prst="rect">
            <a:avLst/>
          </a:prstGeom>
          <a:solidFill>
            <a:srgbClr val="A9F00F"/>
          </a:solidFill>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1078"/>
            <a:ext cx="14630400" cy="4740944"/>
          </a:xfrm>
          <a:prstGeom prst="rect">
            <a:avLst/>
          </a:prstGeom>
        </p:spPr>
      </p:pic>
      <p:sp>
        <p:nvSpPr>
          <p:cNvPr id="3" name="Text 0"/>
          <p:cNvSpPr/>
          <p:nvPr/>
        </p:nvSpPr>
        <p:spPr>
          <a:xfrm>
            <a:off x="793790" y="536075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0F4F1"/>
                </a:solidFill>
                <a:latin typeface="Syne Extra Bold" pitchFamily="34" charset="0"/>
                <a:ea typeface="Syne Extra Bold" pitchFamily="34" charset="-122"/>
                <a:cs typeface="Syne Extra Bold" pitchFamily="34" charset="-120"/>
              </a:rPr>
              <a:t>Thank You</a:t>
            </a:r>
            <a:endParaRPr lang="en-US" sz="4450" dirty="0"/>
          </a:p>
        </p:txBody>
      </p:sp>
      <p:sp>
        <p:nvSpPr>
          <p:cNvPr id="4" name="Text 1"/>
          <p:cNvSpPr/>
          <p:nvPr/>
        </p:nvSpPr>
        <p:spPr>
          <a:xfrm>
            <a:off x="793790" y="6210321"/>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D7E5D8"/>
                </a:solidFill>
                <a:latin typeface="Syne" pitchFamily="34" charset="0"/>
                <a:ea typeface="Syne" pitchFamily="34" charset="-122"/>
                <a:cs typeface="Syne" pitchFamily="34" charset="-120"/>
              </a:rPr>
              <a:t>We believe this UI/UX design for SELL BACK sets a new standard for clarity, engagement, and efficiency in the mobile device buy-back market. Your feedback is invaluable as we move forward.</a:t>
            </a:r>
            <a:endParaRPr lang="en-US" sz="1750" dirty="0"/>
          </a:p>
        </p:txBody>
      </p:sp>
      <p:pic>
        <p:nvPicPr>
          <p:cNvPr id="5" name="Picture 4">
            <a:extLst>
              <a:ext uri="{FF2B5EF4-FFF2-40B4-BE49-F238E27FC236}">
                <a16:creationId xmlns:a16="http://schemas.microsoft.com/office/drawing/2014/main" id="{58B86212-E4FE-937E-F80D-6E6B901D5107}"/>
              </a:ext>
            </a:extLst>
          </p:cNvPr>
          <p:cNvPicPr>
            <a:picLocks noChangeAspect="1"/>
          </p:cNvPicPr>
          <p:nvPr/>
        </p:nvPicPr>
        <p:blipFill>
          <a:blip r:embed="rId4"/>
          <a:srcRect l="731"/>
          <a:stretch>
            <a:fillRect/>
          </a:stretch>
        </p:blipFill>
        <p:spPr>
          <a:xfrm>
            <a:off x="-1" y="7917759"/>
            <a:ext cx="14786812" cy="310327"/>
          </a:xfrm>
          <a:prstGeom prst="rect">
            <a:avLst/>
          </a:prstGeom>
        </p:spPr>
      </p:pic>
      <p:pic>
        <p:nvPicPr>
          <p:cNvPr id="10" name="Picture 9">
            <a:extLst>
              <a:ext uri="{FF2B5EF4-FFF2-40B4-BE49-F238E27FC236}">
                <a16:creationId xmlns:a16="http://schemas.microsoft.com/office/drawing/2014/main" id="{2D2FF181-0477-57F9-7699-1D33CD3E56BF}"/>
              </a:ext>
            </a:extLst>
          </p:cNvPr>
          <p:cNvPicPr>
            <a:picLocks noChangeAspect="1"/>
          </p:cNvPicPr>
          <p:nvPr/>
        </p:nvPicPr>
        <p:blipFill>
          <a:blip r:embed="rId5"/>
          <a:stretch>
            <a:fillRect/>
          </a:stretch>
        </p:blipFill>
        <p:spPr>
          <a:xfrm>
            <a:off x="2644252" y="338725"/>
            <a:ext cx="9341893" cy="3708154"/>
          </a:xfrm>
          <a:prstGeom prst="rect">
            <a:avLst/>
          </a:prstGeom>
        </p:spPr>
      </p:pic>
      <p:sp>
        <p:nvSpPr>
          <p:cNvPr id="11" name="Shape 5">
            <a:extLst>
              <a:ext uri="{FF2B5EF4-FFF2-40B4-BE49-F238E27FC236}">
                <a16:creationId xmlns:a16="http://schemas.microsoft.com/office/drawing/2014/main" id="{E805F985-2437-CB2B-1C8F-8A63041BB87C}"/>
              </a:ext>
            </a:extLst>
          </p:cNvPr>
          <p:cNvSpPr/>
          <p:nvPr/>
        </p:nvSpPr>
        <p:spPr>
          <a:xfrm>
            <a:off x="0" y="4701915"/>
            <a:ext cx="14630401" cy="197166"/>
          </a:xfrm>
          <a:prstGeom prst="rect">
            <a:avLst/>
          </a:prstGeom>
          <a:solidFill>
            <a:srgbClr val="A9F00F"/>
          </a:solidFill>
          <a:ln/>
        </p:spPr>
        <p:txBody>
          <a:bodyPr/>
          <a:lstStyle/>
          <a:p>
            <a:endParaRPr lang="en-US"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924</Words>
  <Application>Microsoft Office PowerPoint</Application>
  <PresentationFormat>Custom</PresentationFormat>
  <Paragraphs>98</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Syne Extra Bold</vt:lpstr>
      <vt:lpstr>Syne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Muhammad Abdullah</dc:creator>
  <cp:lastModifiedBy>Muaaz Manzoor</cp:lastModifiedBy>
  <cp:revision>33</cp:revision>
  <dcterms:created xsi:type="dcterms:W3CDTF">2026-01-08T03:34:43Z</dcterms:created>
  <dcterms:modified xsi:type="dcterms:W3CDTF">2026-01-08T09:10:51Z</dcterms:modified>
</cp:coreProperties>
</file>